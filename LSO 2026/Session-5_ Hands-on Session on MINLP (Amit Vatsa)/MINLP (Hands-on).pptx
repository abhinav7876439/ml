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sldIdLst>
    <p:sldId id="277" r:id="rId2"/>
    <p:sldId id="358" r:id="rId3"/>
    <p:sldId id="326" r:id="rId4"/>
    <p:sldId id="339" r:id="rId5"/>
    <p:sldId id="321" r:id="rId6"/>
    <p:sldId id="351" r:id="rId7"/>
    <p:sldId id="352" r:id="rId8"/>
    <p:sldId id="359" r:id="rId9"/>
    <p:sldId id="363" r:id="rId10"/>
    <p:sldId id="364" r:id="rId11"/>
    <p:sldId id="365" r:id="rId12"/>
    <p:sldId id="354" r:id="rId13"/>
    <p:sldId id="353" r:id="rId14"/>
    <p:sldId id="360" r:id="rId15"/>
    <p:sldId id="340" r:id="rId16"/>
    <p:sldId id="341" r:id="rId17"/>
    <p:sldId id="342" r:id="rId18"/>
    <p:sldId id="343" r:id="rId19"/>
    <p:sldId id="346" r:id="rId20"/>
    <p:sldId id="347" r:id="rId21"/>
    <p:sldId id="361" r:id="rId22"/>
    <p:sldId id="366" r:id="rId23"/>
    <p:sldId id="348" r:id="rId24"/>
    <p:sldId id="349" r:id="rId25"/>
    <p:sldId id="323" r:id="rId26"/>
    <p:sldId id="344" r:id="rId27"/>
    <p:sldId id="331" r:id="rId28"/>
    <p:sldId id="334" r:id="rId29"/>
    <p:sldId id="263" r:id="rId30"/>
  </p:sldIdLst>
  <p:sldSz cx="9144000" cy="6858000" type="screen4x3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8383"/>
    <a:srgbClr val="898989"/>
    <a:srgbClr val="245C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62" autoAdjust="0"/>
    <p:restoredTop sz="94645"/>
  </p:normalViewPr>
  <p:slideViewPr>
    <p:cSldViewPr>
      <p:cViewPr varScale="1">
        <p:scale>
          <a:sx n="113" d="100"/>
          <a:sy n="113" d="100"/>
        </p:scale>
        <p:origin x="8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6CB084-DEEC-49F7-9D7B-66094C008792}" type="datetimeFigureOut">
              <a:rPr lang="en-US" smtClean="0"/>
              <a:pPr/>
              <a:t>6/4/26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AC43F0-5493-44D1-8A14-75561625A8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43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C43F0-5493-44D1-8A14-75561625A85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47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C43F0-5493-44D1-8A14-75561625A85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067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C43F0-5493-44D1-8A14-75561625A850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72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eautiful-color-ui-gradients-backgrounds-endless-river.png">
            <a:extLst>
              <a:ext uri="{FF2B5EF4-FFF2-40B4-BE49-F238E27FC236}">
                <a16:creationId xmlns:a16="http://schemas.microsoft.com/office/drawing/2014/main" id="{09A1A15A-F75A-4A07-9A13-F07C344D91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6667" b="64652"/>
          <a:stretch>
            <a:fillRect/>
          </a:stretch>
        </p:blipFill>
        <p:spPr>
          <a:xfrm rot="10800000">
            <a:off x="685800" y="2362200"/>
            <a:ext cx="7696200" cy="1981200"/>
          </a:xfrm>
          <a:prstGeom prst="rect">
            <a:avLst/>
          </a:prstGeom>
        </p:spPr>
      </p:pic>
      <p:pic>
        <p:nvPicPr>
          <p:cNvPr id="22" name="Picture 21" descr="beautiful-color-ui-gradients-backgrounds-endless-river.png">
            <a:extLst>
              <a:ext uri="{FF2B5EF4-FFF2-40B4-BE49-F238E27FC236}">
                <a16:creationId xmlns:a16="http://schemas.microsoft.com/office/drawing/2014/main" id="{3E79C549-2C84-4930-8E29-BE2472A54E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6667" b="64652"/>
          <a:stretch>
            <a:fillRect/>
          </a:stretch>
        </p:blipFill>
        <p:spPr>
          <a:xfrm>
            <a:off x="15240" y="-4281"/>
            <a:ext cx="9144000" cy="1524000"/>
          </a:xfrm>
          <a:prstGeom prst="rect">
            <a:avLst/>
          </a:prstGeom>
        </p:spPr>
      </p:pic>
      <p:pic>
        <p:nvPicPr>
          <p:cNvPr id="24" name="Picture 23" descr="IIMI Logo.png">
            <a:extLst>
              <a:ext uri="{FF2B5EF4-FFF2-40B4-BE49-F238E27FC236}">
                <a16:creationId xmlns:a16="http://schemas.microsoft.com/office/drawing/2014/main" id="{D4DC91ED-7AC6-4B29-BF9B-94B0714081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rcRect l="9442" t="12269" r="15025" b="9884"/>
          <a:stretch>
            <a:fillRect/>
          </a:stretch>
        </p:blipFill>
        <p:spPr>
          <a:xfrm>
            <a:off x="3901440" y="300519"/>
            <a:ext cx="1341120" cy="1676400"/>
          </a:xfrm>
          <a:prstGeom prst="rect">
            <a:avLst/>
          </a:prstGeom>
          <a:ln w="88900" cap="sq" cmpd="thickThin">
            <a:solidFill>
              <a:schemeClr val="tx2">
                <a:lumMod val="7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4B5759-5368-4636-BC94-B3F85573F26C}"/>
              </a:ext>
            </a:extLst>
          </p:cNvPr>
          <p:cNvSpPr txBox="1"/>
          <p:nvPr userDrawn="1"/>
        </p:nvSpPr>
        <p:spPr>
          <a:xfrm>
            <a:off x="1752600" y="4648202"/>
            <a:ext cx="579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0954"/>
            <a:ext cx="7696200" cy="652046"/>
          </a:xfrm>
          <a:solidFill>
            <a:schemeClr val="accent5">
              <a:lumMod val="75000"/>
            </a:schemeClr>
          </a:solidFill>
          <a:ln>
            <a:noFill/>
          </a:ln>
          <a:effectLst>
            <a:softEdge rad="101600"/>
          </a:effectLst>
          <a:scene3d>
            <a:camera prst="orthographicFront"/>
            <a:lightRig rig="threePt" dir="t"/>
          </a:scene3d>
          <a:sp3d extrusionH="76200">
            <a:bevelT w="152400" h="50800" prst="softRound"/>
            <a:bevelB/>
          </a:sp3d>
        </p:spPr>
        <p:txBody>
          <a:bodyPr lIns="180000" rIns="180000">
            <a:sp3d>
              <a:bevelT w="0" h="0"/>
            </a:sp3d>
          </a:bodyPr>
          <a:lstStyle>
            <a:lvl1pPr algn="l"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599"/>
            <a:ext cx="8229600" cy="4751811"/>
          </a:xfrm>
          <a:scene3d>
            <a:camera prst="orthographicFront"/>
            <a:lightRig rig="threePt" dir="t"/>
          </a:scene3d>
          <a:sp3d>
            <a:bevelT prst="angle"/>
            <a:bevelB w="215900" h="215900"/>
          </a:sp3d>
        </p:spPr>
        <p:txBody>
          <a:bodyPr/>
          <a:lstStyle>
            <a:lvl1pPr>
              <a:defRPr sz="2800">
                <a:solidFill>
                  <a:schemeClr val="accent5">
                    <a:lumMod val="75000"/>
                  </a:schemeClr>
                </a:solidFill>
                <a:latin typeface="Calibri (Body)"/>
              </a:defRPr>
            </a:lvl1pPr>
            <a:lvl2pPr>
              <a:defRPr sz="2600">
                <a:solidFill>
                  <a:schemeClr val="accent5">
                    <a:lumMod val="75000"/>
                  </a:schemeClr>
                </a:solidFill>
                <a:latin typeface="Calibri (Body)"/>
              </a:defRPr>
            </a:lvl2pPr>
            <a:lvl3pPr>
              <a:defRPr sz="2400">
                <a:solidFill>
                  <a:schemeClr val="accent5">
                    <a:lumMod val="75000"/>
                  </a:schemeClr>
                </a:solidFill>
                <a:latin typeface="Calibri (Body)"/>
              </a:defRPr>
            </a:lvl3pPr>
            <a:lvl4pPr>
              <a:defRPr sz="2200">
                <a:solidFill>
                  <a:schemeClr val="accent5">
                    <a:lumMod val="75000"/>
                  </a:schemeClr>
                </a:solidFill>
                <a:latin typeface="Calibri (Body)"/>
              </a:defRPr>
            </a:lvl4pPr>
            <a:lvl5pPr>
              <a:defRPr sz="20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B4A8B96-15DC-BF4E-908E-FAFA27AE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601FB8-8510-984A-B4B1-52581F94585F}"/>
              </a:ext>
            </a:extLst>
          </p:cNvPr>
          <p:cNvSpPr txBox="1"/>
          <p:nvPr userDrawn="1"/>
        </p:nvSpPr>
        <p:spPr>
          <a:xfrm>
            <a:off x="0" y="6477000"/>
            <a:ext cx="457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Amit Vatsa/ Operations Management &amp; Quantitative Techniques</a:t>
            </a:r>
          </a:p>
        </p:txBody>
      </p:sp>
      <p:pic>
        <p:nvPicPr>
          <p:cNvPr id="20" name="Picture 19" descr="beautiful-color-ui-gradients-backgrounds-endless-river.png">
            <a:extLst>
              <a:ext uri="{FF2B5EF4-FFF2-40B4-BE49-F238E27FC236}">
                <a16:creationId xmlns:a16="http://schemas.microsoft.com/office/drawing/2014/main" id="{1C5FA123-28A7-E141-A075-EC89D07F8A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6667" b="64652"/>
          <a:stretch>
            <a:fillRect/>
          </a:stretch>
        </p:blipFill>
        <p:spPr>
          <a:xfrm rot="10800000">
            <a:off x="0" y="6705599"/>
            <a:ext cx="9144000" cy="152399"/>
          </a:xfrm>
          <a:prstGeom prst="rect">
            <a:avLst/>
          </a:prstGeom>
        </p:spPr>
      </p:pic>
      <p:pic>
        <p:nvPicPr>
          <p:cNvPr id="21" name="Picture 20" descr="beautiful-color-ui-gradients-backgrounds-endless-river.png">
            <a:extLst>
              <a:ext uri="{FF2B5EF4-FFF2-40B4-BE49-F238E27FC236}">
                <a16:creationId xmlns:a16="http://schemas.microsoft.com/office/drawing/2014/main" id="{8F8EEFB5-AFC8-3D48-BD60-62043B541A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6667" b="64652"/>
          <a:stretch>
            <a:fillRect/>
          </a:stretch>
        </p:blipFill>
        <p:spPr>
          <a:xfrm>
            <a:off x="0" y="0"/>
            <a:ext cx="8229599" cy="354430"/>
          </a:xfrm>
          <a:prstGeom prst="rect">
            <a:avLst/>
          </a:prstGeom>
        </p:spPr>
      </p:pic>
      <p:pic>
        <p:nvPicPr>
          <p:cNvPr id="16" name="Picture 15" descr="IIMI Logo.jpg">
            <a:extLst>
              <a:ext uri="{FF2B5EF4-FFF2-40B4-BE49-F238E27FC236}">
                <a16:creationId xmlns:a16="http://schemas.microsoft.com/office/drawing/2014/main" id="{A6DEEDB1-4677-AF4F-88D8-8D746188DC7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rcRect l="21957" t="15812" r="20629" b="12963"/>
          <a:stretch>
            <a:fillRect/>
          </a:stretch>
        </p:blipFill>
        <p:spPr>
          <a:xfrm>
            <a:off x="8229600" y="0"/>
            <a:ext cx="914400" cy="137583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0F2FA04-006D-944F-BAF8-39B8141C81E3}"/>
              </a:ext>
            </a:extLst>
          </p:cNvPr>
          <p:cNvSpPr txBox="1"/>
          <p:nvPr userDrawn="1"/>
        </p:nvSpPr>
        <p:spPr>
          <a:xfrm>
            <a:off x="3581399" y="15632"/>
            <a:ext cx="4648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Large Scale Optimization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39C4D-FD84-4DFF-B2DF-BCD6E82F972A}" type="datetime1">
              <a:rPr lang="en-US" smtClean="0"/>
              <a:pPr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A7B67-1511-46F0-8359-359CF3CBC21F}" type="datetime1">
              <a:rPr lang="en-US" smtClean="0"/>
              <a:pPr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61C30-7DF7-49B5-AA1B-BB8134B6BA79}" type="datetime1">
              <a:rPr lang="en-US" smtClean="0"/>
              <a:pPr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7E770-064B-4017-AF8D-201962153129}" type="datetime1">
              <a:rPr lang="en-US" smtClean="0"/>
              <a:pPr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70190-D519-42DB-8B21-F34F3032DD5F}" type="datetime1">
              <a:rPr lang="en-US" smtClean="0"/>
              <a:pPr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FD460-CFE6-4A82-94EE-47617AECF496}" type="datetime1">
              <a:rPr lang="en-US" smtClean="0"/>
              <a:pPr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5FDE2-9313-4926-A1B2-33C31FBB55DC}" type="datetime1">
              <a:rPr lang="en-US" smtClean="0"/>
              <a:pPr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9B310-5701-4703-8774-112BF1385CD4}" type="datetime1">
              <a:rPr lang="en-US" smtClean="0"/>
              <a:pPr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292B8-B06E-410D-BE7D-FB86E4AF89EF}" type="datetime1">
              <a:rPr lang="en-US" smtClean="0"/>
              <a:pPr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mailto:amitv@iimidr.ac.in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eg"/><Relationship Id="rId5" Type="http://schemas.openxmlformats.org/officeDocument/2006/relationships/image" Target="../media/image31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E485BF-3E7E-41B2-80D4-F1893AA10E10}"/>
              </a:ext>
            </a:extLst>
          </p:cNvPr>
          <p:cNvSpPr txBox="1"/>
          <p:nvPr/>
        </p:nvSpPr>
        <p:spPr>
          <a:xfrm>
            <a:off x="838200" y="2438400"/>
            <a:ext cx="7543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Arial (Headings)"/>
                <a:cs typeface="Arial" pitchFamily="34" charset="0"/>
              </a:rPr>
              <a:t>Hands-on Session on MINLP</a:t>
            </a:r>
          </a:p>
          <a:p>
            <a:pPr algn="ctr"/>
            <a:endParaRPr lang="en-US" sz="3600" b="1" dirty="0">
              <a:solidFill>
                <a:schemeClr val="bg1"/>
              </a:solidFill>
              <a:latin typeface="Arial (Headings)"/>
              <a:cs typeface="Arial" pitchFamily="34" charset="0"/>
            </a:endParaRPr>
          </a:p>
          <a:p>
            <a:pPr algn="ctr"/>
            <a:r>
              <a:rPr lang="en-US" sz="3600" b="1" dirty="0">
                <a:solidFill>
                  <a:schemeClr val="bg1"/>
                </a:solidFill>
                <a:latin typeface="Arial (Headings)"/>
                <a:cs typeface="Arial" pitchFamily="34" charset="0"/>
              </a:rPr>
              <a:t>LSO-2026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406A60-473E-15A3-07EC-F52315F727FF}"/>
              </a:ext>
            </a:extLst>
          </p:cNvPr>
          <p:cNvSpPr txBox="1"/>
          <p:nvPr/>
        </p:nvSpPr>
        <p:spPr>
          <a:xfrm>
            <a:off x="685801" y="4916181"/>
            <a:ext cx="7696200" cy="1815882"/>
          </a:xfrm>
          <a:prstGeom prst="rect">
            <a:avLst/>
          </a:prstGeom>
          <a:noFill/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Amit Vatsa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Associate Professor (OM&amp;QT)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IIM Indore</a:t>
            </a:r>
          </a:p>
          <a:p>
            <a:pPr algn="ctr"/>
            <a:endParaRPr lang="en-US" sz="20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en-US" sz="2000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174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2ECC2-0F7B-E3BF-3B75-369779111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91F20-C963-21DE-353A-E573D5CC9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Solving MINLPs with modern solvers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Convex MINLP:</a:t>
            </a:r>
            <a:r>
              <a:rPr lang="en-IN" dirty="0"/>
              <a:t> decomposition and outer-approximation ideas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Kelley’s cutting plane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Outer Approximation (OA)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Generalized Benders Decomposition (GBD)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Non-convex MINLP: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McCormick envelope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Customized convexification </a:t>
            </a:r>
          </a:p>
          <a:p>
            <a:r>
              <a:rPr lang="en-IN" dirty="0"/>
              <a:t>A real-world application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E0607-EF5B-2EA7-AC1F-87F43F425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2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381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F749-96BD-B75A-B3FE-BBDA44D0B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MINLPs arise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B2594-1DC9-BC6C-6F4F-3BA8F107B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Facility location and logistics with economies / diseconomies of scale</a:t>
            </a:r>
          </a:p>
          <a:p>
            <a:r>
              <a:rPr lang="en-IN" dirty="0"/>
              <a:t>Process design and operation in chemical and petroleum industries</a:t>
            </a:r>
          </a:p>
          <a:p>
            <a:r>
              <a:rPr lang="en-IN" dirty="0"/>
              <a:t>Capacity planning for cold storage, warehouses, and energy systems</a:t>
            </a:r>
          </a:p>
          <a:p>
            <a:r>
              <a:rPr lang="en-IN" dirty="0"/>
              <a:t>Network design problems with discrete choices and nonlinear costs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F352F-3886-CA64-C84B-8B56F9FE7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3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83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14469-AECC-DB09-92EA-843EDBA16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convex optimization?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91B19-EC8E-71DF-3EF6-5E8FF62C3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3500" dirty="0"/>
              <a:t>A problem is convex if:</a:t>
            </a:r>
          </a:p>
          <a:p>
            <a:pPr lvl="1"/>
            <a:r>
              <a:rPr lang="en-IN" sz="3000" dirty="0"/>
              <a:t>the feasible region is convex, and </a:t>
            </a:r>
          </a:p>
          <a:p>
            <a:pPr lvl="1"/>
            <a:r>
              <a:rPr lang="en-IN" sz="3000" dirty="0"/>
              <a:t>the objective is </a:t>
            </a:r>
          </a:p>
          <a:p>
            <a:pPr lvl="2"/>
            <a:r>
              <a:rPr lang="en-IN" sz="3000" dirty="0"/>
              <a:t>convex for a minimization problem, or </a:t>
            </a:r>
          </a:p>
          <a:p>
            <a:pPr lvl="2"/>
            <a:r>
              <a:rPr lang="en-IN" sz="3000" dirty="0"/>
              <a:t>concave for a maximization problem </a:t>
            </a:r>
          </a:p>
          <a:p>
            <a:r>
              <a:rPr lang="en-IN" sz="3500" dirty="0"/>
              <a:t>Special case:</a:t>
            </a:r>
            <a:br>
              <a:rPr lang="en-IN" sz="3500" dirty="0"/>
            </a:br>
            <a:r>
              <a:rPr lang="en-IN" sz="3500" dirty="0"/>
              <a:t>Linear programming is a convex optimization problem.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F321A-AE01-7172-EF66-6C095D82B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4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711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CFAA-5CB1-4868-89C0-72A971AD9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7F6C9-CB57-4D99-8023-55A47D11C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sz="3000" b="1" dirty="0">
                <a:solidFill>
                  <a:srgbClr val="008000"/>
                </a:solidFill>
              </a:rPr>
              <a:t>Convex Region</a:t>
            </a:r>
            <a:r>
              <a:rPr lang="en-US" altLang="en-US" sz="3000" b="1" dirty="0"/>
              <a:t>: </a:t>
            </a:r>
            <a:r>
              <a:rPr lang="en-US" altLang="en-US" sz="3000" b="1" dirty="0">
                <a:solidFill>
                  <a:schemeClr val="tx2"/>
                </a:solidFill>
              </a:rPr>
              <a:t>Given any two points A and B belonging to the region, if the line segment joining A and B is entirely within the region, the region is said to be convex.</a:t>
            </a:r>
          </a:p>
          <a:p>
            <a:pPr algn="just"/>
            <a:endParaRPr lang="en-US" altLang="en-US" sz="3000" b="1" dirty="0">
              <a:solidFill>
                <a:srgbClr val="008000"/>
              </a:solidFill>
            </a:endParaRPr>
          </a:p>
          <a:p>
            <a:pPr algn="just"/>
            <a:r>
              <a:rPr lang="en-US" altLang="en-US" sz="3000" b="1" dirty="0">
                <a:solidFill>
                  <a:srgbClr val="008000"/>
                </a:solidFill>
              </a:rPr>
              <a:t>Convex function: </a:t>
            </a:r>
            <a:r>
              <a:rPr lang="en-US" altLang="en-US" sz="3000" b="1" dirty="0">
                <a:solidFill>
                  <a:schemeClr val="tx2"/>
                </a:solidFill>
              </a:rPr>
              <a:t>If the line segment connecting two points A and B on the graph of the function lies above the graph between A and B </a:t>
            </a:r>
          </a:p>
          <a:p>
            <a:pPr marL="0" indent="0" algn="just">
              <a:buNone/>
            </a:pPr>
            <a:endParaRPr lang="en-US" altLang="en-US" sz="3000" b="1" dirty="0"/>
          </a:p>
          <a:p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4FD63-C7A4-47A8-883C-A5171D1F9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5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334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CFAA-5CB1-4868-89C0-72A971AD9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region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4FD63-C7A4-47A8-883C-A5171D1F9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6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8581AB0E-27C9-3960-79C8-ADC1E8A5B3E3}"/>
              </a:ext>
            </a:extLst>
          </p:cNvPr>
          <p:cNvSpPr>
            <a:spLocks/>
          </p:cNvSpPr>
          <p:nvPr/>
        </p:nvSpPr>
        <p:spPr bwMode="auto">
          <a:xfrm>
            <a:off x="1543050" y="1428750"/>
            <a:ext cx="2286000" cy="2171700"/>
          </a:xfrm>
          <a:custGeom>
            <a:avLst/>
            <a:gdLst>
              <a:gd name="T0" fmla="*/ 0 w 1920"/>
              <a:gd name="T1" fmla="*/ 768 h 1824"/>
              <a:gd name="T2" fmla="*/ 624 w 1920"/>
              <a:gd name="T3" fmla="*/ 0 h 1824"/>
              <a:gd name="T4" fmla="*/ 1872 w 1920"/>
              <a:gd name="T5" fmla="*/ 480 h 1824"/>
              <a:gd name="T6" fmla="*/ 1920 w 1920"/>
              <a:gd name="T7" fmla="*/ 1440 h 1824"/>
              <a:gd name="T8" fmla="*/ 432 w 1920"/>
              <a:gd name="T9" fmla="*/ 1824 h 1824"/>
              <a:gd name="T10" fmla="*/ 0 w 1920"/>
              <a:gd name="T11" fmla="*/ 768 h 18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20"/>
              <a:gd name="T19" fmla="*/ 0 h 1824"/>
              <a:gd name="T20" fmla="*/ 1920 w 1920"/>
              <a:gd name="T21" fmla="*/ 1824 h 18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20" h="1824">
                <a:moveTo>
                  <a:pt x="0" y="768"/>
                </a:moveTo>
                <a:lnTo>
                  <a:pt x="624" y="0"/>
                </a:lnTo>
                <a:lnTo>
                  <a:pt x="1872" y="480"/>
                </a:lnTo>
                <a:lnTo>
                  <a:pt x="1920" y="1440"/>
                </a:lnTo>
                <a:lnTo>
                  <a:pt x="432" y="1824"/>
                </a:lnTo>
                <a:lnTo>
                  <a:pt x="0" y="768"/>
                </a:lnTo>
                <a:close/>
              </a:path>
            </a:pathLst>
          </a:cu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8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7FA6A3-0DFA-C9AE-1EC5-A3CCAE43F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2400300"/>
            <a:ext cx="1143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8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7162DB-662B-F62F-C481-D7738403A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050" y="1714500"/>
            <a:ext cx="1143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800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5B89FF91-8505-7202-BC65-F5A2575385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71650" y="1771650"/>
            <a:ext cx="97155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35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1BCBCF3B-FEBD-F89D-CBBC-E77271664C9C}"/>
              </a:ext>
            </a:extLst>
          </p:cNvPr>
          <p:cNvSpPr>
            <a:spLocks/>
          </p:cNvSpPr>
          <p:nvPr/>
        </p:nvSpPr>
        <p:spPr bwMode="auto">
          <a:xfrm>
            <a:off x="4629150" y="1428750"/>
            <a:ext cx="2057400" cy="2457450"/>
          </a:xfrm>
          <a:custGeom>
            <a:avLst/>
            <a:gdLst>
              <a:gd name="T0" fmla="*/ 48 w 1728"/>
              <a:gd name="T1" fmla="*/ 288 h 2064"/>
              <a:gd name="T2" fmla="*/ 1344 w 1728"/>
              <a:gd name="T3" fmla="*/ 0 h 2064"/>
              <a:gd name="T4" fmla="*/ 1728 w 1728"/>
              <a:gd name="T5" fmla="*/ 864 h 2064"/>
              <a:gd name="T6" fmla="*/ 912 w 1728"/>
              <a:gd name="T7" fmla="*/ 2064 h 2064"/>
              <a:gd name="T8" fmla="*/ 864 w 1728"/>
              <a:gd name="T9" fmla="*/ 1104 h 2064"/>
              <a:gd name="T10" fmla="*/ 432 w 1728"/>
              <a:gd name="T11" fmla="*/ 672 h 2064"/>
              <a:gd name="T12" fmla="*/ 0 w 1728"/>
              <a:gd name="T13" fmla="*/ 768 h 2064"/>
              <a:gd name="T14" fmla="*/ 48 w 1728"/>
              <a:gd name="T15" fmla="*/ 288 h 206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728"/>
              <a:gd name="T25" fmla="*/ 0 h 2064"/>
              <a:gd name="T26" fmla="*/ 1728 w 1728"/>
              <a:gd name="T27" fmla="*/ 2064 h 206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728" h="2064">
                <a:moveTo>
                  <a:pt x="48" y="288"/>
                </a:moveTo>
                <a:lnTo>
                  <a:pt x="1344" y="0"/>
                </a:lnTo>
                <a:lnTo>
                  <a:pt x="1728" y="864"/>
                </a:lnTo>
                <a:lnTo>
                  <a:pt x="912" y="2064"/>
                </a:lnTo>
                <a:lnTo>
                  <a:pt x="864" y="1104"/>
                </a:lnTo>
                <a:lnTo>
                  <a:pt x="432" y="672"/>
                </a:lnTo>
                <a:lnTo>
                  <a:pt x="0" y="768"/>
                </a:lnTo>
                <a:lnTo>
                  <a:pt x="48" y="288"/>
                </a:lnTo>
                <a:close/>
              </a:path>
            </a:pathLst>
          </a:cu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659AFA8-7121-C06B-3499-E11C2DCDA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3450" y="2057400"/>
            <a:ext cx="1143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800"/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64CDD757-1842-11AD-C55D-3A654B5F5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2150" y="3314700"/>
            <a:ext cx="1143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800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4110FF60-044D-15CA-F2AF-9A5CDB1417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2114550"/>
            <a:ext cx="1028700" cy="1257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350"/>
          </a:p>
        </p:txBody>
      </p:sp>
    </p:spTree>
    <p:extLst>
      <p:ext uri="{BB962C8B-B14F-4D97-AF65-F5344CB8AC3E}">
        <p14:creationId xmlns:p14="http://schemas.microsoft.com/office/powerpoint/2010/main" val="101780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CFAA-5CB1-4868-89C0-72A971AD9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954"/>
            <a:ext cx="7696200" cy="652046"/>
          </a:xfrm>
        </p:spPr>
        <p:txBody>
          <a:bodyPr anchor="ctr">
            <a:normAutofit/>
          </a:bodyPr>
          <a:lstStyle/>
          <a:p>
            <a:r>
              <a:rPr lang="en-US" dirty="0"/>
              <a:t>Convex function</a:t>
            </a:r>
          </a:p>
        </p:txBody>
      </p:sp>
      <p:pic>
        <p:nvPicPr>
          <p:cNvPr id="3" name="Picture 7" descr="C:\Users\Admin1\Desktop\Untitled.png">
            <a:extLst>
              <a:ext uri="{FF2B5EF4-FFF2-40B4-BE49-F238E27FC236}">
                <a16:creationId xmlns:a16="http://schemas.microsoft.com/office/drawing/2014/main" id="{C22A918C-A7E6-77E8-D6B8-E703CD610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1517" y="1371599"/>
            <a:ext cx="5060965" cy="4751811"/>
          </a:xfrm>
          <a:prstGeom prst="rect">
            <a:avLst/>
          </a:prstGeom>
          <a:solidFill>
            <a:srgbClr val="FFFFFF"/>
          </a:solidFill>
          <a:scene3d>
            <a:camera prst="orthographicFront"/>
            <a:lightRig rig="threePt" dir="t"/>
          </a:scene3d>
          <a:sp3d>
            <a:bevelT prst="angle"/>
            <a:bevelB w="215900" h="215900"/>
          </a:sp3d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4FD63-C7A4-47A8-883C-A5171D1F9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00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A7368-F9E0-8352-EBC6-82693FD44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MINLP form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91D16-7665-B4E8-B794-0C1559D594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lim>
                    </m:limLow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≤0        ∀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IN" dirty="0"/>
                  <a:t>where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: continuous variables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: integer variables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: a bounded polyhedral set </a:t>
                </a:r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: smooth nonlinear functions </a:t>
                </a:r>
              </a:p>
              <a:p>
                <a:endParaRPr lang="en-IN" b="1" dirty="0"/>
              </a:p>
              <a:p>
                <a:r>
                  <a:rPr lang="en-IN" b="1" dirty="0"/>
                  <a:t>Convex MINLP:</a:t>
                </a:r>
                <a:br>
                  <a:rPr lang="en-IN" dirty="0"/>
                </a:br>
                <a:r>
                  <a:rPr lang="en-IN" dirty="0"/>
                  <a:t>If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are convex, we call it a convex MINLP</a:t>
                </a:r>
                <a:br>
                  <a:rPr lang="en-IN" dirty="0"/>
                </a:br>
                <a:r>
                  <a:rPr lang="en-IN" dirty="0"/>
                  <a:t>(though </a:t>
                </a:r>
                <a:r>
                  <a:rPr lang="en-IN" dirty="0" err="1"/>
                  <a:t>integrality</a:t>
                </a:r>
                <a:r>
                  <a:rPr lang="en-IN" dirty="0"/>
                  <a:t> still makes the overall feasible set nonconvex).</a:t>
                </a:r>
              </a:p>
              <a:p>
                <a:pPr marL="0" indent="0">
                  <a:buNone/>
                </a:pPr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91D16-7665-B4E8-B794-0C1559D594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68" t="-794" b="-1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AB75D-5D99-5F1A-7937-06C77ED4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8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038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69A13-F1FA-0E12-481E-4EEE30EE3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Can solvers solve MINLPs directly?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649E4-B570-EAF4-BFB3-827F5D9F6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Yes, many models can be handled directly by modern solvers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Important classes include: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MIQP / MIQCP / MISOCP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Nonconvex quadratic and bilinear models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General nonlinear constraints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Still, decomposition and convexification remain important for insight and scalability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BD70B-EB75-E195-B74B-2445D87E9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9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790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B5B8D-A66A-7753-3E45-714948BE4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MINLP solvers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C75CA-6BED-AA8B-D66F-28AA56139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10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D7D291D2-5CA4-346B-5D8D-F36069A83C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5687516"/>
              </p:ext>
            </p:extLst>
          </p:nvPr>
        </p:nvGraphicFramePr>
        <p:xfrm>
          <a:off x="457200" y="1371600"/>
          <a:ext cx="8305801" cy="4923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278">
                  <a:extLst>
                    <a:ext uri="{9D8B030D-6E8A-4147-A177-3AD203B41FA5}">
                      <a16:colId xmlns:a16="http://schemas.microsoft.com/office/drawing/2014/main" val="3126078705"/>
                    </a:ext>
                  </a:extLst>
                </a:gridCol>
                <a:gridCol w="2727278">
                  <a:extLst>
                    <a:ext uri="{9D8B030D-6E8A-4147-A177-3AD203B41FA5}">
                      <a16:colId xmlns:a16="http://schemas.microsoft.com/office/drawing/2014/main" val="700877697"/>
                    </a:ext>
                  </a:extLst>
                </a:gridCol>
                <a:gridCol w="2851245">
                  <a:extLst>
                    <a:ext uri="{9D8B030D-6E8A-4147-A177-3AD203B41FA5}">
                      <a16:colId xmlns:a16="http://schemas.microsoft.com/office/drawing/2014/main" val="1230021441"/>
                    </a:ext>
                  </a:extLst>
                </a:gridCol>
              </a:tblGrid>
              <a:tr h="243195">
                <a:tc>
                  <a:txBody>
                    <a:bodyPr/>
                    <a:lstStyle/>
                    <a:p>
                      <a:r>
                        <a:rPr lang="en-IN"/>
                        <a:t>Solver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License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Main strength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941994"/>
                  </a:ext>
                </a:extLst>
              </a:tr>
              <a:tr h="779556">
                <a:tc>
                  <a:txBody>
                    <a:bodyPr/>
                    <a:lstStyle/>
                    <a:p>
                      <a:r>
                        <a:rPr lang="en-IN" b="1"/>
                        <a:t>BARON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Commercial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Strong deterministic global 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733189"/>
                  </a:ext>
                </a:extLst>
              </a:tr>
              <a:tr h="1319249">
                <a:tc>
                  <a:txBody>
                    <a:bodyPr/>
                    <a:lstStyle/>
                    <a:p>
                      <a:r>
                        <a:rPr lang="en-IN" b="1"/>
                        <a:t>Gurobi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Commercial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Very strong MILP/MIQP/MIQCP engine; spatial branch-and-bound for nonlinear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2883510"/>
                  </a:ext>
                </a:extLst>
              </a:tr>
              <a:tr h="1319249">
                <a:tc>
                  <a:txBody>
                    <a:bodyPr/>
                    <a:lstStyle/>
                    <a:p>
                      <a:r>
                        <a:rPr lang="en-IN" b="1"/>
                        <a:t>SCIP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Open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Strong academic open-source framework for constraint integer and nonlinear 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635369"/>
                  </a:ext>
                </a:extLst>
              </a:tr>
              <a:tr h="1139351">
                <a:tc>
                  <a:txBody>
                    <a:bodyPr/>
                    <a:lstStyle/>
                    <a:p>
                      <a:r>
                        <a:rPr lang="en-IN" b="1"/>
                        <a:t>Knitro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Commercial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 continuous NLP methods; MINLP support is strongest for convex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6310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5251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8B82-A139-5419-DA1C-FBCAA4A53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Example 1: A convex MINLP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53D732-7B36-58B3-F6A6-81E305A873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s.t.</a:t>
                </a: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≥8</m:t>
                    </m:r>
                  </m:oMath>
                </a14:m>
                <a:r>
                  <a:rPr lang="en-US" b="0" dirty="0"/>
                  <a:t>     (1)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≥6</m:t>
                    </m:r>
                  </m:oMath>
                </a14:m>
                <a:r>
                  <a:rPr lang="en-US" dirty="0"/>
                  <a:t>       (2)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IN" dirty="0"/>
                  <a:t>This can be solved directly by </a:t>
                </a:r>
                <a:r>
                  <a:rPr lang="en-IN" dirty="0" err="1"/>
                  <a:t>Gurobi</a:t>
                </a:r>
                <a:r>
                  <a:rPr lang="en-IN" dirty="0"/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53D732-7B36-58B3-F6A6-81E305A873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4F4A-B38F-ACDD-0AAF-120C9581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11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431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7F22C-EFED-3472-4CD9-D6F1E1874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Kelley’s cutting plane: a precursor to OA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16C18D-6FD4-BEEC-2112-AB448F0190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0" dirty="0">
                    <a:latin typeface="Cambria Math" panose="02040503050406030204" pitchFamily="18" charset="0"/>
                  </a:rPr>
                  <a:t>KCP-Example1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 err="1"/>
                  <a:t>s.t.</a:t>
                </a: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≤3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≤5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IN" dirty="0"/>
                  <a:t>Idea: replace the nonlinear feasible set by tangent cuts and refine iteratively.</a:t>
                </a: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16C18D-6FD4-BEEC-2112-AB448F0190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2" t="-1058" r="-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67F3C-4144-5F3E-5F81-4C4CC4D7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12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855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7F22C-EFED-3472-4CD9-D6F1E1874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Kelley’s cutting plane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16C18D-6FD4-BEEC-2112-AB448F0190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077200" cy="258228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KCP-Example2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 err="1"/>
                  <a:t>s.t.</a:t>
                </a: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≤4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−3≤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≤3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−3≤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≤3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IN" dirty="0"/>
                  <a:t>Idea: approximate the circular feasible region by tangent cuts.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16C18D-6FD4-BEEC-2112-AB448F0190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077200" cy="2582280"/>
              </a:xfrm>
              <a:blipFill>
                <a:blip r:embed="rId2"/>
                <a:stretch>
                  <a:fillRect l="-782" t="-3382"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67F3C-4144-5F3E-5F81-4C4CC4D7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13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7" descr="C:\Users\Admin1\Desktop\Untitled.png">
            <a:extLst>
              <a:ext uri="{FF2B5EF4-FFF2-40B4-BE49-F238E27FC236}">
                <a16:creationId xmlns:a16="http://schemas.microsoft.com/office/drawing/2014/main" id="{DCF53BED-F07C-A073-4E29-C2F83A538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1" y="4165068"/>
            <a:ext cx="2209800" cy="2074812"/>
          </a:xfrm>
          <a:prstGeom prst="rect">
            <a:avLst/>
          </a:prstGeom>
          <a:solidFill>
            <a:srgbClr val="FFFFFF"/>
          </a:solidFill>
          <a:scene3d>
            <a:camera prst="orthographicFront"/>
            <a:lightRig rig="threePt" dir="t"/>
          </a:scene3d>
          <a:sp3d>
            <a:bevelT prst="angle"/>
            <a:bevelB w="215900" h="215900"/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C50317-0D37-49A0-282E-C4012F6E4B1F}"/>
              </a:ext>
            </a:extLst>
          </p:cNvPr>
          <p:cNvSpPr txBox="1"/>
          <p:nvPr/>
        </p:nvSpPr>
        <p:spPr>
          <a:xfrm>
            <a:off x="-1371600" y="-7315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EE3867-C5ED-887F-DB8D-E896497CD8D1}"/>
              </a:ext>
            </a:extLst>
          </p:cNvPr>
          <p:cNvGrpSpPr/>
          <p:nvPr/>
        </p:nvGrpSpPr>
        <p:grpSpPr>
          <a:xfrm>
            <a:off x="5339716" y="4368636"/>
            <a:ext cx="1969770" cy="1862988"/>
            <a:chOff x="5269230" y="4156812"/>
            <a:chExt cx="1969770" cy="186298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1D5A559-D0BE-DC1D-A1AD-F4D9380C2D95}"/>
                </a:ext>
              </a:extLst>
            </p:cNvPr>
            <p:cNvSpPr/>
            <p:nvPr/>
          </p:nvSpPr>
          <p:spPr>
            <a:xfrm>
              <a:off x="5753100" y="4557710"/>
              <a:ext cx="1028700" cy="1004890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8F8BA46-89E4-8488-D3B5-E7AFE2685211}"/>
                </a:ext>
              </a:extLst>
            </p:cNvPr>
            <p:cNvSpPr/>
            <p:nvPr/>
          </p:nvSpPr>
          <p:spPr>
            <a:xfrm>
              <a:off x="5486400" y="4348688"/>
              <a:ext cx="1524000" cy="1442512"/>
            </a:xfrm>
            <a:prstGeom prst="ellipse">
              <a:avLst/>
            </a:prstGeom>
            <a:noFill/>
            <a:ln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6F9EE80-972B-1589-8D4D-8AC9E4786E45}"/>
                </a:ext>
              </a:extLst>
            </p:cNvPr>
            <p:cNvSpPr/>
            <p:nvPr/>
          </p:nvSpPr>
          <p:spPr>
            <a:xfrm>
              <a:off x="5269230" y="4156812"/>
              <a:ext cx="1969770" cy="1862988"/>
            </a:xfrm>
            <a:prstGeom prst="ellipse">
              <a:avLst/>
            </a:prstGeom>
            <a:noFill/>
            <a:ln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217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685F3-33DA-32AE-E53C-85C965704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Why discuss KCP in 21</a:t>
            </a:r>
            <a:r>
              <a:rPr lang="en-IN" b="1" baseline="30000" dirty="0"/>
              <a:t>st</a:t>
            </a:r>
            <a:r>
              <a:rPr lang="en-IN" b="1" dirty="0"/>
              <a:t> century?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F0015-C6E6-3D39-E84E-528FF486B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Not because it is the preferred method for solving convex NLPs today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But because it introduced a key idea for MINLP:</a:t>
            </a:r>
          </a:p>
          <a:p>
            <a:pPr lvl="1"/>
            <a:r>
              <a:rPr lang="en-IN" dirty="0"/>
              <a:t>tangent cuts are valid for convex constraints </a:t>
            </a:r>
          </a:p>
          <a:p>
            <a:pPr lvl="1"/>
            <a:r>
              <a:rPr lang="en-IN" dirty="0"/>
              <a:t>a few cuts may be enough; we do not need all supporting hyperplanes</a:t>
            </a:r>
          </a:p>
          <a:p>
            <a:r>
              <a:rPr lang="en-IN" dirty="0"/>
              <a:t>Kelley is the conceptual precursor to OA and related decomposition methods.</a:t>
            </a:r>
          </a:p>
          <a:p>
            <a:r>
              <a:rPr lang="en-IN" dirty="0"/>
              <a:t>Modern continuous NLP solvers: SQP, interior-point methods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031DC-AAB5-0A03-5339-526E4633B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14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10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A7F48-DA2A-6A9C-5C6C-B4A67AB5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EB0E31-ABA8-9163-A633-0A95521E27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599"/>
                <a:ext cx="3200400" cy="2743201"/>
              </a:xfrm>
              <a:ln>
                <a:solidFill>
                  <a:srgbClr val="0070C0"/>
                </a:solidFill>
              </a:ln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s.t.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≥8</m:t>
                    </m:r>
                  </m:oMath>
                </a14:m>
                <a:r>
                  <a:rPr lang="en-US" b="0" dirty="0"/>
                  <a:t>     (1)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≥6</m:t>
                    </m:r>
                  </m:oMath>
                </a14:m>
                <a:r>
                  <a:rPr lang="en-US" dirty="0"/>
                  <a:t>       (2)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EB0E31-ABA8-9163-A633-0A95521E27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599"/>
                <a:ext cx="3200400" cy="2743201"/>
              </a:xfrm>
              <a:blipFill>
                <a:blip r:embed="rId2"/>
                <a:stretch>
                  <a:fillRect l="-2734" r="-4688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D56D5-F368-70F2-8E1A-4DC6CC5E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15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E4D2443-E135-755A-3860-56CA1EEA07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6800" y="1363979"/>
                <a:ext cx="3200400" cy="2743201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  <a:scene3d>
                <a:camera prst="orthographicFront"/>
                <a:lightRig rig="threePt" dir="t"/>
              </a:scene3d>
              <a:sp3d>
                <a:bevelT prst="angle"/>
                <a:bevelB w="215900" h="215900"/>
              </a:sp3d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8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6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2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accent5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Font typeface="Arial" pitchFamily="34" charset="0"/>
                  <a:buNone/>
                </a:pPr>
                <a:r>
                  <a:rPr lang="en-US" dirty="0" err="1"/>
                  <a:t>s.t.</a:t>
                </a:r>
                <a:endParaRPr lang="en-US" dirty="0"/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≥8</m:t>
                    </m:r>
                  </m:oMath>
                </a14:m>
                <a:r>
                  <a:rPr lang="en-US" dirty="0"/>
                  <a:t>     (1)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≥6</m:t>
                    </m:r>
                  </m:oMath>
                </a14:m>
                <a:r>
                  <a:rPr lang="en-US" dirty="0"/>
                  <a:t>       (2)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             (3)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≥0,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dirty="0"/>
              </a:p>
              <a:p>
                <a:pPr marL="0" indent="0">
                  <a:buFont typeface="Arial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E4D2443-E135-755A-3860-56CA1EEA0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1363979"/>
                <a:ext cx="3200400" cy="2743201"/>
              </a:xfrm>
              <a:prstGeom prst="rect">
                <a:avLst/>
              </a:prstGeom>
              <a:blipFill>
                <a:blip r:embed="rId3"/>
                <a:stretch>
                  <a:fillRect l="-2734" r="-4688" b="-1364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>
            <a:extLst>
              <a:ext uri="{FF2B5EF4-FFF2-40B4-BE49-F238E27FC236}">
                <a16:creationId xmlns:a16="http://schemas.microsoft.com/office/drawing/2014/main" id="{936E9A2C-058D-7195-719E-BAF53CE4E9F9}"/>
              </a:ext>
            </a:extLst>
          </p:cNvPr>
          <p:cNvSpPr/>
          <p:nvPr/>
        </p:nvSpPr>
        <p:spPr>
          <a:xfrm>
            <a:off x="3962400" y="2545078"/>
            <a:ext cx="609600" cy="3810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2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A7F48-DA2A-6A9C-5C6C-B4A67AB5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-1: OA-KCP (inefficient)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EB0E31-ABA8-9163-A633-0A95521E27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599"/>
                <a:ext cx="3200400" cy="2743201"/>
              </a:xfrm>
              <a:ln>
                <a:solidFill>
                  <a:srgbClr val="0070C0"/>
                </a:solidFill>
              </a:ln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s.t.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≥8</m:t>
                    </m:r>
                  </m:oMath>
                </a14:m>
                <a:r>
                  <a:rPr lang="en-US" b="0" dirty="0"/>
                  <a:t>     (1)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≥6</m:t>
                    </m:r>
                  </m:oMath>
                </a14:m>
                <a:r>
                  <a:rPr lang="en-US" dirty="0"/>
                  <a:t>       (2)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EB0E31-ABA8-9163-A633-0A95521E27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599"/>
                <a:ext cx="3200400" cy="2743201"/>
              </a:xfrm>
              <a:blipFill>
                <a:blip r:embed="rId2"/>
                <a:stretch>
                  <a:fillRect l="-2734" r="-1563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D56D5-F368-70F2-8E1A-4DC6CC5E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16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E4D2443-E135-755A-3860-56CA1EEA07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6800" y="1363979"/>
                <a:ext cx="3200400" cy="2743201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  <a:scene3d>
                <a:camera prst="orthographicFront"/>
                <a:lightRig rig="threePt" dir="t"/>
              </a:scene3d>
              <a:sp3d>
                <a:bevelT prst="angle"/>
                <a:bevelB w="215900" h="215900"/>
              </a:sp3d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8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6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2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accent5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Font typeface="Arial" pitchFamily="34" charset="0"/>
                  <a:buNone/>
                </a:pPr>
                <a:r>
                  <a:rPr lang="en-US" dirty="0" err="1"/>
                  <a:t>s.t.</a:t>
                </a:r>
                <a:endParaRPr lang="en-US" dirty="0"/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≥8</m:t>
                    </m:r>
                  </m:oMath>
                </a14:m>
                <a:r>
                  <a:rPr lang="en-US" dirty="0"/>
                  <a:t>     (1)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≥6</m:t>
                    </m:r>
                  </m:oMath>
                </a14:m>
                <a:r>
                  <a:rPr lang="en-US" dirty="0"/>
                  <a:t>       (2)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             (3)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≥0, 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dirty="0"/>
              </a:p>
              <a:p>
                <a:pPr marL="0" indent="0">
                  <a:buFont typeface="Arial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E4D2443-E135-755A-3860-56CA1EEA0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1363979"/>
                <a:ext cx="3200400" cy="2743201"/>
              </a:xfrm>
              <a:prstGeom prst="rect">
                <a:avLst/>
              </a:prstGeom>
              <a:blipFill>
                <a:blip r:embed="rId3"/>
                <a:stretch>
                  <a:fillRect l="-2734" b="-1364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>
            <a:extLst>
              <a:ext uri="{FF2B5EF4-FFF2-40B4-BE49-F238E27FC236}">
                <a16:creationId xmlns:a16="http://schemas.microsoft.com/office/drawing/2014/main" id="{936E9A2C-058D-7195-719E-BAF53CE4E9F9}"/>
              </a:ext>
            </a:extLst>
          </p:cNvPr>
          <p:cNvSpPr/>
          <p:nvPr/>
        </p:nvSpPr>
        <p:spPr>
          <a:xfrm>
            <a:off x="3962400" y="2545078"/>
            <a:ext cx="609600" cy="3810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8FD1E6-ACFC-5AEF-3F7F-490B5DE1CC82}"/>
                  </a:ext>
                </a:extLst>
              </p:cNvPr>
              <p:cNvSpPr txBox="1"/>
              <p:nvPr/>
            </p:nvSpPr>
            <p:spPr>
              <a:xfrm>
                <a:off x="609600" y="4648200"/>
                <a:ext cx="7543800" cy="9269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 is convex, every tangent line is a global </a:t>
                </a:r>
                <a:r>
                  <a:rPr lang="en-IN" dirty="0" err="1"/>
                  <a:t>underestimator</a:t>
                </a:r>
                <a:r>
                  <a:rPr lang="en-IN" dirty="0"/>
                  <a:t>.</a:t>
                </a:r>
                <a:r>
                  <a:rPr lang="en-US" dirty="0"/>
                  <a:t> Hence,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lang="en-US" dirty="0"/>
                  <a:t>i.e., 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∀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8FD1E6-ACFC-5AEF-3F7F-490B5DE1C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648200"/>
                <a:ext cx="7543800" cy="926920"/>
              </a:xfrm>
              <a:prstGeom prst="rect">
                <a:avLst/>
              </a:prstGeom>
              <a:blipFill>
                <a:blip r:embed="rId4"/>
                <a:stretch>
                  <a:fillRect l="-672" t="-4054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89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A7F48-DA2A-6A9C-5C6C-B4A67AB5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-1: OA-KCP (inefficient)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EB0E31-ABA8-9163-A633-0A95521E27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599"/>
                <a:ext cx="3200400" cy="2743201"/>
              </a:xfrm>
              <a:ln>
                <a:solidFill>
                  <a:srgbClr val="0070C0"/>
                </a:solidFill>
              </a:ln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s.t.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≥8</m:t>
                    </m:r>
                  </m:oMath>
                </a14:m>
                <a:r>
                  <a:rPr lang="en-US" b="0" dirty="0"/>
                  <a:t>     (1)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≥6</m:t>
                    </m:r>
                  </m:oMath>
                </a14:m>
                <a:r>
                  <a:rPr lang="en-US" dirty="0"/>
                  <a:t>       (2)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EB0E31-ABA8-9163-A633-0A95521E27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599"/>
                <a:ext cx="3200400" cy="2743201"/>
              </a:xfrm>
              <a:blipFill>
                <a:blip r:embed="rId2"/>
                <a:stretch>
                  <a:fillRect l="-2734" r="-4688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D56D5-F368-70F2-8E1A-4DC6CC5E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17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E4D2443-E135-755A-3860-56CA1EEA07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6800" y="1363979"/>
                <a:ext cx="3581400" cy="2827021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  <a:scene3d>
                <a:camera prst="orthographicFront"/>
                <a:lightRig rig="threePt" dir="t"/>
              </a:scene3d>
              <a:sp3d>
                <a:bevelT prst="angle"/>
                <a:bevelB w="215900" h="215900"/>
              </a:sp3d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8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6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2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accent5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Font typeface="Arial" pitchFamily="34" charset="0"/>
                  <a:buNone/>
                </a:pPr>
                <a:r>
                  <a:rPr lang="en-US" dirty="0" err="1"/>
                  <a:t>s.t.</a:t>
                </a:r>
                <a:endParaRPr lang="en-US" dirty="0"/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≥8</m:t>
                    </m:r>
                  </m:oMath>
                </a14:m>
                <a:r>
                  <a:rPr lang="en-US" dirty="0"/>
                  <a:t>     (1)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≥6</m:t>
                    </m:r>
                  </m:oMath>
                </a14:m>
                <a:r>
                  <a:rPr lang="en-US" dirty="0"/>
                  <a:t>       (2)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             (3)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≥0, 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dirty="0"/>
              </a:p>
              <a:p>
                <a:pPr marL="0" indent="0">
                  <a:buFont typeface="Arial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E4D2443-E135-755A-3860-56CA1EEA0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1363979"/>
                <a:ext cx="3581400" cy="2827021"/>
              </a:xfrm>
              <a:prstGeom prst="rect">
                <a:avLst/>
              </a:prstGeom>
              <a:blipFill>
                <a:blip r:embed="rId3"/>
                <a:stretch>
                  <a:fillRect l="-2448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>
            <a:extLst>
              <a:ext uri="{FF2B5EF4-FFF2-40B4-BE49-F238E27FC236}">
                <a16:creationId xmlns:a16="http://schemas.microsoft.com/office/drawing/2014/main" id="{936E9A2C-058D-7195-719E-BAF53CE4E9F9}"/>
              </a:ext>
            </a:extLst>
          </p:cNvPr>
          <p:cNvSpPr/>
          <p:nvPr/>
        </p:nvSpPr>
        <p:spPr>
          <a:xfrm>
            <a:off x="3962400" y="2545078"/>
            <a:ext cx="609600" cy="3810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E82CD2-83A5-906E-5562-E76F3902A599}"/>
                  </a:ext>
                </a:extLst>
              </p:cNvPr>
              <p:cNvSpPr txBox="1"/>
              <p:nvPr/>
            </p:nvSpPr>
            <p:spPr>
              <a:xfrm>
                <a:off x="3657600" y="3173728"/>
                <a:ext cx="1295400" cy="371127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E82CD2-83A5-906E-5562-E76F3902A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3173728"/>
                <a:ext cx="1295400" cy="371127"/>
              </a:xfrm>
              <a:prstGeom prst="rect">
                <a:avLst/>
              </a:prstGeom>
              <a:blipFill>
                <a:blip r:embed="rId4"/>
                <a:stretch>
                  <a:fillRect t="-10000" r="-15534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E7EC4A-9D26-C58C-7ED5-64105558C8A0}"/>
                  </a:ext>
                </a:extLst>
              </p:cNvPr>
              <p:cNvSpPr txBox="1"/>
              <p:nvPr/>
            </p:nvSpPr>
            <p:spPr>
              <a:xfrm>
                <a:off x="3657600" y="3147058"/>
                <a:ext cx="4572000" cy="46410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∀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(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E7EC4A-9D26-C58C-7ED5-64105558C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3147058"/>
                <a:ext cx="4572000" cy="464101"/>
              </a:xfrm>
              <a:prstGeom prst="rect">
                <a:avLst/>
              </a:prstGeom>
              <a:blipFill>
                <a:blip r:embed="rId5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03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A7F48-DA2A-6A9C-5C6C-B4A67AB5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-1: OA-KCP (inefficient)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D56D5-F368-70F2-8E1A-4DC6CC5E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18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E4D2443-E135-755A-3860-56CA1EEA07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371600"/>
                <a:ext cx="3733800" cy="4984750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  <a:scene3d>
                <a:camera prst="orthographicFront"/>
                <a:lightRig rig="threePt" dir="t"/>
              </a:scene3d>
              <a:sp3d>
                <a:bevelT prst="angle"/>
                <a:bevelB w="215900" h="215900"/>
              </a:sp3d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8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6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2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accent5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Font typeface="Arial" pitchFamily="34" charset="0"/>
                  <a:buNone/>
                </a:pPr>
                <a:r>
                  <a:rPr lang="en-US" dirty="0" err="1"/>
                  <a:t>s.t.</a:t>
                </a:r>
                <a:endParaRPr lang="en-US" dirty="0"/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≥8</m:t>
                    </m:r>
                  </m:oMath>
                </a14:m>
                <a:r>
                  <a:rPr lang="en-US" dirty="0"/>
                  <a:t>     (1)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≥6</m:t>
                    </m:r>
                  </m:oMath>
                </a14:m>
                <a:r>
                  <a:rPr lang="en-US" dirty="0"/>
                  <a:t>       (2)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             (3)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≥0, 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dirty="0"/>
              </a:p>
              <a:p>
                <a:pPr marL="0" indent="0">
                  <a:buFont typeface="Arial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E4D2443-E135-755A-3860-56CA1EEA0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371600"/>
                <a:ext cx="3733800" cy="4984750"/>
              </a:xfrm>
              <a:prstGeom prst="rect">
                <a:avLst/>
              </a:prstGeom>
              <a:blipFill>
                <a:blip r:embed="rId2"/>
                <a:stretch>
                  <a:fillRect l="-3020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E7EC4A-9D26-C58C-7ED5-64105558C8A0}"/>
                  </a:ext>
                </a:extLst>
              </p:cNvPr>
              <p:cNvSpPr txBox="1"/>
              <p:nvPr/>
            </p:nvSpPr>
            <p:spPr>
              <a:xfrm>
                <a:off x="-152400" y="3631924"/>
                <a:ext cx="4572000" cy="46410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∀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(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E7EC4A-9D26-C58C-7ED5-64105558C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2400" y="3631924"/>
                <a:ext cx="4572000" cy="464101"/>
              </a:xfrm>
              <a:prstGeom prst="rect">
                <a:avLst/>
              </a:prstGeom>
              <a:blipFill>
                <a:blip r:embed="rId3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359E98-1F23-413C-6DBD-4D112204A3D1}"/>
                  </a:ext>
                </a:extLst>
              </p:cNvPr>
              <p:cNvSpPr txBox="1"/>
              <p:nvPr/>
            </p:nvSpPr>
            <p:spPr>
              <a:xfrm>
                <a:off x="4267200" y="1371600"/>
                <a:ext cx="4686300" cy="51161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Iteration 1: </a:t>
                </a:r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LB = 0,x = 6,y = 0,</a:t>
                </a:r>
                <a:r>
                  <a:rPr lang="el-GR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θ = 0,</a:t>
                </a:r>
                <a:endParaRPr lang="en-US" sz="14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UB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=36</m:t>
                    </m:r>
                  </m:oMath>
                </a14:m>
                <a:endParaRPr lang="en-I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Cut added: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−36≤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endParaRPr lang="en-IN" sz="14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400" u="sng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iteration 2: </a:t>
                </a:r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LB = 2,x = 3,y = 2,</a:t>
                </a:r>
                <a:r>
                  <a:rPr lang="el-GR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θ = 0,</a:t>
                </a:r>
                <a:endParaRPr lang="en-US" sz="14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UB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endParaRPr lang="en-I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Cut added: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−9≤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endParaRPr lang="en-I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400" u="sng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iteration 3: </a:t>
                </a:r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LB = 3,x = 1.5,y = 3,</a:t>
                </a:r>
                <a:r>
                  <a:rPr lang="el-GR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θ = 0,</a:t>
                </a:r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I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UB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=5.25</m:t>
                    </m:r>
                  </m:oMath>
                </a14:m>
                <a:endParaRPr lang="en-I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Cut added: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−2.25≤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endParaRPr lang="en-IN" sz="14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40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iteration 4: </a:t>
                </a:r>
                <a:r>
                  <a:rPr lang="en-I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LB = 3,x = 0.75,y = 3,</a:t>
                </a:r>
                <a:r>
                  <a:rPr lang="el-GR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θ = 0,</a:t>
                </a:r>
                <a:r>
                  <a:rPr lang="en-I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r>
                  <a:rPr lang="en-I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UB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=3.5625</m:t>
                    </m:r>
                  </m:oMath>
                </a14:m>
                <a:endParaRPr lang="en-I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Cut added: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.5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−0. 5625≤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endParaRPr lang="en-I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400" u="sng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iteration 5: </a:t>
                </a:r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LB = 3,x = 0.667,y = 3,</a:t>
                </a:r>
                <a:r>
                  <a:rPr lang="el-GR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θ = 0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I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UB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=3.44</m:t>
                    </m:r>
                  </m:oMath>
                </a14:m>
                <a:r>
                  <a:rPr lang="en-I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  <a:p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Cut added: </a:t>
                </a:r>
                <a14:m>
                  <m:oMath xmlns:m="http://schemas.openxmlformats.org/officeDocument/2006/math">
                    <m:r>
                      <a:rPr lang="en-US" sz="14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.33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−0.444≤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I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I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400" u="sng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iteration 6: </a:t>
                </a:r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LB = 3.444,x = 0.667,y = 3,</a:t>
                </a:r>
                <a:r>
                  <a:rPr lang="el-GR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θ = 0.444 </a:t>
                </a:r>
                <a:endParaRPr lang="en-I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4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UB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4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400" b="0" i="1" smtClean="0">
                        <a:effectLst/>
                        <a:latin typeface="Cambria Math" panose="02040503050406030204" pitchFamily="18" charset="0"/>
                      </a:rPr>
                      <m:t>=3.44</m:t>
                    </m:r>
                  </m:oMath>
                </a14:m>
                <a:r>
                  <a:rPr lang="en-I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  <a:p>
                <a:r>
                  <a:rPr lang="en-I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STOP as LB=UB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359E98-1F23-413C-6DBD-4D112204A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1371600"/>
                <a:ext cx="4686300" cy="5116144"/>
              </a:xfrm>
              <a:prstGeom prst="rect">
                <a:avLst/>
              </a:prstGeom>
              <a:blipFill>
                <a:blip r:embed="rId4"/>
                <a:stretch>
                  <a:fillRect l="-541" t="-2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6661910-8A9B-A8F4-FE13-A2F2DE6348F6}"/>
              </a:ext>
            </a:extLst>
          </p:cNvPr>
          <p:cNvSpPr/>
          <p:nvPr/>
        </p:nvSpPr>
        <p:spPr>
          <a:xfrm>
            <a:off x="4163290" y="2971800"/>
            <a:ext cx="4294909" cy="3515944"/>
          </a:xfrm>
          <a:prstGeom prst="roundRect">
            <a:avLst/>
          </a:prstGeom>
          <a:solidFill>
            <a:schemeClr val="accent1">
              <a:alpha val="3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8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A7F48-DA2A-6A9C-5C6C-B4A67AB5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Method-2: True OA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D56D5-F368-70F2-8E1A-4DC6CC5E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19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E4D2443-E135-755A-3860-56CA1EEA07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371600"/>
                <a:ext cx="3657600" cy="2895600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  <a:scene3d>
                <a:camera prst="orthographicFront"/>
                <a:lightRig rig="threePt" dir="t"/>
              </a:scene3d>
              <a:sp3d>
                <a:bevelT prst="angle"/>
                <a:bevelB w="215900" h="215900"/>
              </a:sp3d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8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6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2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accent5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𝑂𝐴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 marL="0" indent="0">
                  <a:buFont typeface="Arial" pitchFamily="34" charset="0"/>
                  <a:buNone/>
                </a:pPr>
                <a:r>
                  <a:rPr lang="en-US" sz="2400" dirty="0" err="1"/>
                  <a:t>s.t.</a:t>
                </a:r>
                <a:endParaRPr lang="en-US" sz="2400" dirty="0"/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≥8</m:t>
                    </m:r>
                  </m:oMath>
                </a14:m>
                <a:r>
                  <a:rPr lang="en-US" sz="2400" dirty="0"/>
                  <a:t>     (1)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≥6</m:t>
                    </m:r>
                  </m:oMath>
                </a14:m>
                <a:r>
                  <a:rPr lang="en-US" sz="2400" dirty="0"/>
                  <a:t>       (2)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              (3)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≥0, </m:t>
                    </m:r>
                    <m:r>
                      <m:rPr>
                        <m:sty m:val="p"/>
                      </m:rPr>
                      <a:rPr lang="en-US" sz="240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E4D2443-E135-755A-3860-56CA1EEA0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371600"/>
                <a:ext cx="3657600" cy="2895600"/>
              </a:xfrm>
              <a:prstGeom prst="rect">
                <a:avLst/>
              </a:prstGeom>
              <a:blipFill>
                <a:blip r:embed="rId2"/>
                <a:stretch>
                  <a:fillRect l="-2055" b="-862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E7EC4A-9D26-C58C-7ED5-64105558C8A0}"/>
                  </a:ext>
                </a:extLst>
              </p:cNvPr>
              <p:cNvSpPr txBox="1"/>
              <p:nvPr/>
            </p:nvSpPr>
            <p:spPr>
              <a:xfrm>
                <a:off x="-152400" y="3273149"/>
                <a:ext cx="4572000" cy="46410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∀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(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E7EC4A-9D26-C58C-7ED5-64105558C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2400" y="3273149"/>
                <a:ext cx="4572000" cy="464101"/>
              </a:xfrm>
              <a:prstGeom prst="rect">
                <a:avLst/>
              </a:prstGeom>
              <a:blipFill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3C6387-A229-AFF0-AEE9-9E72639FBC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4267200"/>
                <a:ext cx="3657600" cy="2286000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  <a:scene3d>
                <a:camera prst="orthographicFront"/>
                <a:lightRig rig="threePt" dir="t"/>
              </a:scene3d>
              <a:sp3d>
                <a:bevelT prst="angle"/>
                <a:bevelB w="215900" h="215900"/>
              </a:sp3d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8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6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2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accent5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  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 marL="0" indent="0">
                  <a:buFont typeface="Arial" pitchFamily="34" charset="0"/>
                  <a:buNone/>
                </a:pPr>
                <a:r>
                  <a:rPr lang="en-US" sz="2400" dirty="0" err="1"/>
                  <a:t>s.t.</a:t>
                </a:r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≥8−2</m:t>
                    </m:r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400" dirty="0"/>
                  <a:t>     (1)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≥6−2</m:t>
                    </m:r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400" dirty="0"/>
                  <a:t>       (2)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sz="2400" dirty="0"/>
              </a:p>
              <a:p>
                <a:pPr marL="0" indent="0">
                  <a:buFont typeface="Arial" pitchFamily="34" charset="0"/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3C6387-A229-AFF0-AEE9-9E72639FB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267200"/>
                <a:ext cx="3657600" cy="2286000"/>
              </a:xfrm>
              <a:prstGeom prst="rect">
                <a:avLst/>
              </a:prstGeom>
              <a:blipFill>
                <a:blip r:embed="rId4"/>
                <a:stretch>
                  <a:fillRect l="-2055" b="-543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F61BF5-E48E-3EAE-7694-C45021509C90}"/>
                  </a:ext>
                </a:extLst>
              </p:cNvPr>
              <p:cNvSpPr txBox="1"/>
              <p:nvPr/>
            </p:nvSpPr>
            <p:spPr>
              <a:xfrm>
                <a:off x="4267200" y="1371600"/>
                <a:ext cx="4686300" cy="3223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Underlying difference with OA-KCP:</a:t>
                </a:r>
              </a:p>
              <a:p>
                <a:r>
                  <a:rPr lang="en-IN" dirty="0"/>
                  <a:t>For a given integer solution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IN" dirty="0"/>
                  <a:t>, we want to add a single tangent hyperplane.</a:t>
                </a:r>
              </a:p>
              <a:p>
                <a:endParaRPr lang="en-IN" dirty="0"/>
              </a:p>
              <a:p>
                <a:r>
                  <a:rPr lang="en-IN" b="1" dirty="0"/>
                  <a:t>Why is True OA better than OA-KCP?</a:t>
                </a:r>
                <a:endParaRPr lang="en-IN" dirty="0"/>
              </a:p>
              <a:p>
                <a:r>
                  <a:rPr lang="en-IN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OA-KCP adds a cut at every master solution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True OA fixes the integer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​, solves the NLP subproblem, and adds </a:t>
                </a:r>
                <a:r>
                  <a:rPr lang="en-IN" b="1" dirty="0"/>
                  <a:t>one cut at the corresponding NLP optimum</a:t>
                </a:r>
                <a:r>
                  <a:rPr lang="en-IN" dirty="0"/>
                  <a:t> 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F61BF5-E48E-3EAE-7694-C45021509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1371600"/>
                <a:ext cx="4686300" cy="3223126"/>
              </a:xfrm>
              <a:prstGeom prst="rect">
                <a:avLst/>
              </a:prstGeom>
              <a:blipFill>
                <a:blip r:embed="rId5"/>
                <a:stretch>
                  <a:fillRect l="-1081" t="-787" r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923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A7F48-DA2A-6A9C-5C6C-B4A67AB5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Method-2: True OA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D56D5-F368-70F2-8E1A-4DC6CC5E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20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E4D2443-E135-755A-3860-56CA1EEA07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371600"/>
                <a:ext cx="3657600" cy="2895600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  <a:scene3d>
                <a:camera prst="orthographicFront"/>
                <a:lightRig rig="threePt" dir="t"/>
              </a:scene3d>
              <a:sp3d>
                <a:bevelT prst="angle"/>
                <a:bevelB w="215900" h="215900"/>
              </a:sp3d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8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6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2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accent5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𝑂𝐴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 marL="0" indent="0">
                  <a:buFont typeface="Arial" pitchFamily="34" charset="0"/>
                  <a:buNone/>
                </a:pPr>
                <a:r>
                  <a:rPr lang="en-US" sz="2400" dirty="0" err="1"/>
                  <a:t>s.t.</a:t>
                </a:r>
                <a:endParaRPr lang="en-US" sz="2400" dirty="0"/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≥8</m:t>
                    </m:r>
                  </m:oMath>
                </a14:m>
                <a:r>
                  <a:rPr lang="en-US" sz="2400" dirty="0"/>
                  <a:t>     (1)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≥6</m:t>
                    </m:r>
                  </m:oMath>
                </a14:m>
                <a:r>
                  <a:rPr lang="en-US" sz="2400" dirty="0"/>
                  <a:t>       (2)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              (3)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≥0, </m:t>
                    </m:r>
                    <m:r>
                      <m:rPr>
                        <m:sty m:val="p"/>
                      </m:rPr>
                      <a:rPr lang="en-US" sz="240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E4D2443-E135-755A-3860-56CA1EEA0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371600"/>
                <a:ext cx="3657600" cy="2895600"/>
              </a:xfrm>
              <a:prstGeom prst="rect">
                <a:avLst/>
              </a:prstGeom>
              <a:blipFill>
                <a:blip r:embed="rId2"/>
                <a:stretch>
                  <a:fillRect l="-2055" b="-862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E7EC4A-9D26-C58C-7ED5-64105558C8A0}"/>
                  </a:ext>
                </a:extLst>
              </p:cNvPr>
              <p:cNvSpPr txBox="1"/>
              <p:nvPr/>
            </p:nvSpPr>
            <p:spPr>
              <a:xfrm>
                <a:off x="-152400" y="3273149"/>
                <a:ext cx="4572000" cy="46410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∀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(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E7EC4A-9D26-C58C-7ED5-64105558C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2400" y="3273149"/>
                <a:ext cx="4572000" cy="464101"/>
              </a:xfrm>
              <a:prstGeom prst="rect">
                <a:avLst/>
              </a:prstGeom>
              <a:blipFill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3C6387-A229-AFF0-AEE9-9E72639FBC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4267200"/>
                <a:ext cx="3657600" cy="2286000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  <a:scene3d>
                <a:camera prst="orthographicFront"/>
                <a:lightRig rig="threePt" dir="t"/>
              </a:scene3d>
              <a:sp3d>
                <a:bevelT prst="angle"/>
                <a:bevelB w="215900" h="215900"/>
              </a:sp3d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8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6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2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accent5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  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 marL="0" indent="0">
                  <a:buFont typeface="Arial" pitchFamily="34" charset="0"/>
                  <a:buNone/>
                </a:pPr>
                <a:r>
                  <a:rPr lang="en-US" sz="2400" dirty="0" err="1"/>
                  <a:t>s.t.</a:t>
                </a:r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≥8−2</m:t>
                    </m:r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400" dirty="0"/>
                  <a:t>     (1)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≥6−2</m:t>
                    </m:r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400" dirty="0"/>
                  <a:t>       (2)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sz="2400" dirty="0"/>
              </a:p>
              <a:p>
                <a:pPr marL="0" indent="0">
                  <a:buFont typeface="Arial" pitchFamily="34" charset="0"/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3C6387-A229-AFF0-AEE9-9E72639FB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267200"/>
                <a:ext cx="3657600" cy="2286000"/>
              </a:xfrm>
              <a:prstGeom prst="rect">
                <a:avLst/>
              </a:prstGeom>
              <a:blipFill>
                <a:blip r:embed="rId4"/>
                <a:stretch>
                  <a:fillRect l="-2055" b="-543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F61BF5-E48E-3EAE-7694-C45021509C90}"/>
                  </a:ext>
                </a:extLst>
              </p:cNvPr>
              <p:cNvSpPr txBox="1"/>
              <p:nvPr/>
            </p:nvSpPr>
            <p:spPr>
              <a:xfrm>
                <a:off x="4267200" y="1371600"/>
                <a:ext cx="4686300" cy="3886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Iteration 1</a:t>
                </a: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Solve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𝑂𝐴</m:t>
                        </m:r>
                      </m:sub>
                    </m:sSub>
                  </m:oMath>
                </a14:m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to get </a:t>
                </a:r>
                <a:r>
                  <a:rPr lang="en-IN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LB = 0,x = 6,y = 0,</a:t>
                </a:r>
                <a:r>
                  <a:rPr lang="el-GR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θ = 0,</a:t>
                </a:r>
                <a:endParaRPr lang="en-US" sz="16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Solve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sub>
                    </m:sSub>
                  </m:oMath>
                </a14:m>
                <a:r>
                  <a:rPr lang="en-I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x=6, UB=36</a:t>
                </a:r>
              </a:p>
              <a:p>
                <a:r>
                  <a:rPr lang="en-IN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Cut added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𝑂𝐴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</a:rPr>
                      <m:t>−36≤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endParaRPr lang="en-IN" sz="16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600" u="sng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iteration 2: </a:t>
                </a: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𝑂𝐴</m:t>
                        </m:r>
                      </m:sub>
                    </m:sSub>
                  </m:oMath>
                </a14:m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to get </a:t>
                </a:r>
                <a:r>
                  <a:rPr lang="en-I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LB = 2,x = 3,y = 2,</a:t>
                </a:r>
                <a:r>
                  <a:rPr lang="el-GR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θ = 0,</a:t>
                </a:r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sub>
                    </m:sSub>
                  </m:oMath>
                </a14:m>
                <a:r>
                  <a:rPr lang="en-I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x=2, UB=6</a:t>
                </a:r>
              </a:p>
              <a:p>
                <a:r>
                  <a:rPr lang="en-I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Cut added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𝑂𝐴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−4≤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IN" sz="16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IN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600" u="sng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iteration 3: </a:t>
                </a: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𝑂𝐴</m:t>
                        </m:r>
                      </m:sub>
                    </m:sSub>
                  </m:oMath>
                </a14:m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to get </a:t>
                </a:r>
                <a:r>
                  <a:rPr lang="en-I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LB = 3,x = 2/3,y = 3,</a:t>
                </a:r>
                <a:r>
                  <a:rPr lang="el-GR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θ = 0,</a:t>
                </a:r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sub>
                    </m:sSub>
                  </m:oMath>
                </a14:m>
                <a:r>
                  <a:rPr lang="en-I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̅=3: </m:t>
                    </m:r>
                    <m:r>
                      <a:rPr lang="en-IN" sz="16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IN" sz="16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en-IN" sz="16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IN" sz="16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num>
                      <m:den>
                        <m:r>
                          <a:rPr lang="en-IN" sz="16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den>
                    </m:f>
                    <m:r>
                      <a:rPr lang="en-IN" sz="16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IN" sz="16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𝑈𝐵</m:t>
                    </m:r>
                    <m:r>
                      <a:rPr lang="en-IN" sz="16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f>
                      <m:fPr>
                        <m:ctrlPr>
                          <a:rPr lang="en-IN" sz="16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6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num>
                      <m:den>
                        <m:r>
                          <a:rPr lang="en-US" sz="16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9</m:t>
                        </m:r>
                      </m:den>
                    </m:f>
                  </m:oMath>
                </a14:m>
                <a:endParaRPr lang="en-IN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Cut added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𝑂𝐴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endParaRPr lang="en-IN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600" u="sng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iteration 4:</a:t>
                </a:r>
                <a14:m>
                  <m:oMath xmlns:m="http://schemas.openxmlformats.org/officeDocument/2006/math">
                    <m:r>
                      <a:rPr lang="en-IN" sz="1600" i="1" u="sng" dirty="0" smtClean="0"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IN" sz="1600" i="1" dirty="0"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𝐿𝐵</m:t>
                    </m:r>
                    <m:r>
                      <a:rPr lang="en-IN" sz="1600" i="1" dirty="0"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 </m:t>
                    </m:r>
                    <m:r>
                      <a:rPr lang="en-US" sz="160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f>
                      <m:fPr>
                        <m:ctrlPr>
                          <a:rPr lang="en-IN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9</m:t>
                        </m:r>
                      </m:den>
                    </m:f>
                    <m:r>
                      <a:rPr lang="en-IN" sz="16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IN" sz="16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IN" sz="16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en-IN" sz="16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IN" sz="16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num>
                      <m:den>
                        <m:r>
                          <a:rPr lang="en-IN" sz="16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den>
                    </m:f>
                    <m:r>
                      <a:rPr lang="en-IN" sz="1600" i="1" dirty="0" smtClean="0"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IN" sz="1600" i="1" dirty="0"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IN" sz="1600" i="1" dirty="0"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 3,</m:t>
                    </m:r>
                    <m:r>
                      <a:rPr lang="el-GR" sz="1600" i="1" dirty="0"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𝜃</m:t>
                    </m:r>
                    <m:r>
                      <a:rPr lang="el-GR" sz="1600" i="1" dirty="0"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 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IN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IN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STOP as LB=UB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F61BF5-E48E-3EAE-7694-C45021509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1371600"/>
                <a:ext cx="4686300" cy="3886128"/>
              </a:xfrm>
              <a:prstGeom prst="rect">
                <a:avLst/>
              </a:prstGeom>
              <a:blipFill>
                <a:blip r:embed="rId5"/>
                <a:stretch>
                  <a:fillRect l="-811" t="-654" b="-1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6596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B3733-0064-A370-9C01-D1CE187D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Outer Approximation (OA): key idea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C3F05-742B-58DF-CEC2-25E064333A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Fix the integer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​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Solve the NLP subproblem in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Add a tangent cut to approximate the nonlinear objective / constraints in the master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Master problem remains a MILP with primal cuts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C3F05-742B-58DF-CEC2-25E064333A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5" t="-1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AE230-96AC-0AC7-24B7-D342C9DE4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21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670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B3733-0064-A370-9C01-D1CE187D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Generalized Benders Decomposition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C3F05-742B-58DF-CEC2-25E064333A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Partition variables into</a:t>
                </a:r>
              </a:p>
              <a:p>
                <a:pPr lvl="1"/>
                <a:r>
                  <a:rPr lang="en-IN" dirty="0"/>
                  <a:t>complicating variables: usually integer variables (say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dirty="0"/>
                  <a:t>)</a:t>
                </a:r>
              </a:p>
              <a:p>
                <a:pPr lvl="1"/>
                <a:r>
                  <a:rPr lang="en-IN" dirty="0"/>
                  <a:t>easy variables: continuous variables (say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dirty="0"/>
                  <a:t>)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For a fixed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​, solve the continuous subproblem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Use KKT / dual multipliers to build a cut in the master problem </a:t>
                </a:r>
              </a:p>
              <a:p>
                <a:endParaRPr lang="en-IN" dirty="0"/>
              </a:p>
              <a:p>
                <a:r>
                  <a:rPr lang="en-IN" dirty="0"/>
                  <a:t>Interpretation</a:t>
                </a:r>
              </a:p>
              <a:p>
                <a:pPr lvl="1"/>
                <a:r>
                  <a:rPr lang="en-IN" dirty="0"/>
                  <a:t>OA: primal tangent cut</a:t>
                </a:r>
              </a:p>
              <a:p>
                <a:pPr lvl="1"/>
                <a:r>
                  <a:rPr lang="en-IN" dirty="0"/>
                  <a:t>GBD: dual-based optimality cut</a:t>
                </a:r>
              </a:p>
              <a:p>
                <a:r>
                  <a:rPr lang="en-IN" dirty="0"/>
                  <a:t>Classic references</a:t>
                </a:r>
              </a:p>
              <a:p>
                <a:pPr lvl="1"/>
                <a:r>
                  <a:rPr lang="en-IN" dirty="0"/>
                  <a:t>GBD: </a:t>
                </a:r>
                <a:r>
                  <a:rPr lang="en-IN" dirty="0" err="1"/>
                  <a:t>Geoffrion</a:t>
                </a:r>
                <a:r>
                  <a:rPr lang="en-IN" dirty="0"/>
                  <a:t> (1972) </a:t>
                </a:r>
              </a:p>
              <a:p>
                <a:pPr lvl="1"/>
                <a:r>
                  <a:rPr lang="en-IN" dirty="0"/>
                  <a:t>OA: Duran and Grossmann (1986) 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C3F05-742B-58DF-CEC2-25E064333A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68" t="-1058" r="-1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AE230-96AC-0AC7-24B7-D342C9DE4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22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807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A7F48-DA2A-6A9C-5C6C-B4A67AB5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Generalized Benders Decomposition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D56D5-F368-70F2-8E1A-4DC6CC5E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23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E4D2443-E135-755A-3860-56CA1EEA07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371600"/>
                <a:ext cx="2514600" cy="2743200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  <a:scene3d>
                <a:camera prst="orthographicFront"/>
                <a:lightRig rig="threePt" dir="t"/>
              </a:scene3d>
              <a:sp3d>
                <a:bevelT prst="angle"/>
                <a:bevelB w="215900" h="215900"/>
              </a:sp3d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8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6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2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accent5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 marL="0" indent="0">
                  <a:buFont typeface="Arial" pitchFamily="34" charset="0"/>
                  <a:buNone/>
                </a:pPr>
                <a:r>
                  <a:rPr lang="en-US" sz="2400" dirty="0" err="1"/>
                  <a:t>s.t.</a:t>
                </a:r>
                <a:endParaRPr lang="en-US" sz="2400" dirty="0"/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≥8</m:t>
                    </m:r>
                  </m:oMath>
                </a14:m>
                <a:r>
                  <a:rPr lang="en-US" sz="2400" dirty="0"/>
                  <a:t>     (1)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≥6</m:t>
                    </m:r>
                  </m:oMath>
                </a14:m>
                <a:r>
                  <a:rPr lang="en-US" sz="2400" dirty="0"/>
                  <a:t>       (2)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≥0, </m:t>
                    </m:r>
                    <m:r>
                      <m:rPr>
                        <m:sty m:val="p"/>
                      </m:rPr>
                      <a:rPr lang="en-US" sz="240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E4D2443-E135-755A-3860-56CA1EEA0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371600"/>
                <a:ext cx="2514600" cy="2743200"/>
              </a:xfrm>
              <a:prstGeom prst="rect">
                <a:avLst/>
              </a:prstGeom>
              <a:blipFill>
                <a:blip r:embed="rId2"/>
                <a:stretch>
                  <a:fillRect l="-2970" r="-1485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3C6387-A229-AFF0-AEE9-9E72639FBC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52800" y="3733800"/>
                <a:ext cx="5257800" cy="2739390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  <a:scene3d>
                <a:camera prst="orthographicFront"/>
                <a:lightRig rig="threePt" dir="t"/>
              </a:scene3d>
              <a:sp3d>
                <a:bevelT prst="angle"/>
                <a:bevelB w="215900" h="215900"/>
              </a:sp3d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8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6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2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accent5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sz="2000" dirty="0"/>
              </a:p>
              <a:p>
                <a:pPr marL="0" indent="0">
                  <a:buFont typeface="Arial" pitchFamily="34" charset="0"/>
                  <a:buNone/>
                </a:pPr>
                <a:r>
                  <a:rPr lang="en-US" sz="2000" dirty="0" err="1"/>
                  <a:t>s.t.</a:t>
                </a:r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8−3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dirty="0"/>
                  <a:t>i.e.,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≥0,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sz="2000" dirty="0"/>
              </a:p>
              <a:p>
                <a:pPr marL="0" indent="0">
                  <a:buFont typeface="Arial" pitchFamily="34" charset="0"/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3C6387-A229-AFF0-AEE9-9E72639FB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3733800"/>
                <a:ext cx="5257800" cy="2739390"/>
              </a:xfrm>
              <a:prstGeom prst="rect">
                <a:avLst/>
              </a:prstGeom>
              <a:blipFill>
                <a:blip r:embed="rId3"/>
                <a:stretch>
                  <a:fillRect l="-718" r="-239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9D0530F-CBE2-9EE5-063E-38A8568411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52800" y="1371600"/>
                <a:ext cx="5257800" cy="2286000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  <a:scene3d>
                <a:camera prst="orthographicFront"/>
                <a:lightRig rig="threePt" dir="t"/>
              </a:scene3d>
              <a:sp3d>
                <a:bevelT prst="angle"/>
                <a:bevelB w="215900" h="215900"/>
              </a:sp3d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8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6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2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accent5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 marL="0" indent="0">
                  <a:buFont typeface="Arial" pitchFamily="34" charset="0"/>
                  <a:buNone/>
                </a:pPr>
                <a:r>
                  <a:rPr lang="en-US" sz="2400" dirty="0" err="1"/>
                  <a:t>s.t.</a:t>
                </a:r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≥8−2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  :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    (1)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≥6−2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400" dirty="0"/>
                  <a:t>    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    (2)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sz="2400" dirty="0"/>
              </a:p>
              <a:p>
                <a:pPr marL="0" indent="0">
                  <a:buFont typeface="Arial" pitchFamily="34" charset="0"/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9D0530F-CBE2-9EE5-063E-38A856841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1371600"/>
                <a:ext cx="5257800" cy="2286000"/>
              </a:xfrm>
              <a:prstGeom prst="rect">
                <a:avLst/>
              </a:prstGeom>
              <a:blipFill>
                <a:blip r:embed="rId4"/>
                <a:stretch>
                  <a:fillRect l="-1435" b="-543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664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A7F48-DA2A-6A9C-5C6C-B4A67AB5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Generalized Benders Decomposition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D56D5-F368-70F2-8E1A-4DC6CC5E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24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3C6387-A229-AFF0-AEE9-9E72639FBC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4800" y="1371600"/>
                <a:ext cx="3657600" cy="1233488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  <a:scene3d>
                <a:camera prst="orthographicFront"/>
                <a:lightRig rig="threePt" dir="t"/>
              </a:scene3d>
              <a:sp3d>
                <a:bevelT prst="angle"/>
                <a:bevelB w="215900" h="215900"/>
              </a:sp3d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8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6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2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accent5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5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5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sz="1500" dirty="0"/>
              </a:p>
              <a:p>
                <a:pPr marL="0" indent="0">
                  <a:buFont typeface="Arial" pitchFamily="34" charset="0"/>
                  <a:buNone/>
                </a:pPr>
                <a:r>
                  <a:rPr lang="en-US" sz="1500" dirty="0" err="1"/>
                  <a:t>s.t.</a:t>
                </a:r>
                <a:endParaRPr lang="en-US" sz="15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50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5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5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≥0, </m:t>
                    </m:r>
                    <m:r>
                      <m:rPr>
                        <m:sty m:val="p"/>
                      </m:rPr>
                      <a:rPr lang="en-US" sz="150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1500" dirty="0"/>
                  <a:t> 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sz="1500" dirty="0"/>
              </a:p>
              <a:p>
                <a:pPr marL="0" indent="0">
                  <a:buFont typeface="Arial" pitchFamily="34" charset="0"/>
                  <a:buNone/>
                </a:pPr>
                <a:endParaRPr lang="en-US" sz="1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3C6387-A229-AFF0-AEE9-9E72639FB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371600"/>
                <a:ext cx="3657600" cy="1233488"/>
              </a:xfrm>
              <a:prstGeom prst="rect">
                <a:avLst/>
              </a:prstGeom>
              <a:blipFill>
                <a:blip r:embed="rId2"/>
                <a:stretch>
                  <a:fillRect b="-3960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9D0530F-CBE2-9EE5-063E-38A8568411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4800" y="3124200"/>
                <a:ext cx="3657600" cy="2133600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  <a:scene3d>
                <a:camera prst="orthographicFront"/>
                <a:lightRig rig="threePt" dir="t"/>
              </a:scene3d>
              <a:sp3d>
                <a:bevelT prst="angle"/>
                <a:bevelB w="215900" h="215900"/>
              </a:sp3d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8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6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200" kern="120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accent5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2000" dirty="0"/>
              </a:p>
              <a:p>
                <a:pPr marL="0" indent="0">
                  <a:buFont typeface="Arial" pitchFamily="34" charset="0"/>
                  <a:buNone/>
                </a:pPr>
                <a:r>
                  <a:rPr lang="en-US" sz="2000" dirty="0" err="1"/>
                  <a:t>s.t.</a:t>
                </a:r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≥8−2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 :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    (1)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≥6−2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/>
                  <a:t>    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    (2)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sz="2000" dirty="0"/>
              </a:p>
              <a:p>
                <a:pPr marL="0" indent="0">
                  <a:buFont typeface="Arial" pitchFamily="34" charset="0"/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9D0530F-CBE2-9EE5-063E-38A856841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124200"/>
                <a:ext cx="3657600" cy="2133600"/>
              </a:xfrm>
              <a:prstGeom prst="rect">
                <a:avLst/>
              </a:prstGeom>
              <a:blipFill>
                <a:blip r:embed="rId3"/>
                <a:stretch>
                  <a:fillRect l="-1027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E8FE2F-C812-3B58-69AE-830458FD0C5D}"/>
                  </a:ext>
                </a:extLst>
              </p:cNvPr>
              <p:cNvSpPr txBox="1"/>
              <p:nvPr/>
            </p:nvSpPr>
            <p:spPr>
              <a:xfrm>
                <a:off x="3962400" y="1371600"/>
                <a:ext cx="5181600" cy="4998933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50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Iteration 1</a:t>
                </a:r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Solve</a:t>
                </a:r>
                <a14:m>
                  <m:oMath xmlns:m="http://schemas.openxmlformats.org/officeDocument/2006/math">
                    <m:r>
                      <a:rPr lang="en-US" sz="15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5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:</m:t>
                    </m:r>
                    <m:r>
                      <a:rPr lang="en-US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IN" sz="1500" i="1" dirty="0" smtClean="0"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𝐿𝐵</m:t>
                    </m:r>
                    <m:r>
                      <a:rPr lang="en-IN" sz="1500" i="1" dirty="0"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=0, </m:t>
                    </m:r>
                    <m:r>
                      <a:rPr lang="en-IN" sz="1500" i="1" dirty="0"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IN" sz="1500" i="1" dirty="0"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=0, </m:t>
                    </m:r>
                    <m:r>
                      <a:rPr lang="el-GR" sz="1500" i="1" dirty="0"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𝜃</m:t>
                    </m:r>
                    <m:r>
                      <a:rPr lang="el-GR" sz="1500" i="1" dirty="0">
                        <a:effectLst/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=0</m:t>
                    </m:r>
                  </m:oMath>
                </a14:m>
                <a:endParaRPr lang="en-US" sz="15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15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endParaRPr lang="en-US" sz="1500" i="1" dirty="0">
                  <a:latin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IN" sz="15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IN" sz="15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=6,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=12,</m:t>
                    </m:r>
                  </m:oMath>
                </a14:m>
                <a:r>
                  <a:rPr lang="en-US" sz="1500" i="1" dirty="0">
                    <a:latin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=36, 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𝑈𝐵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=36</m:t>
                    </m:r>
                  </m:oMath>
                </a14:m>
                <a:endParaRPr lang="en-US" sz="1500" i="1" dirty="0">
                  <a:latin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endParaRPr lang="en-IN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5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Cut added to 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𝑀𝑃</m:t>
                    </m:r>
                  </m:oMath>
                </a14:m>
                <a:r>
                  <a:rPr lang="en-IN" sz="15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effectLst/>
                        <a:latin typeface="Cambria Math" panose="02040503050406030204" pitchFamily="18" charset="0"/>
                      </a:rPr>
                      <m:t>36−24</m:t>
                    </m:r>
                    <m:r>
                      <a:rPr lang="en-US" sz="1500" b="0" i="1" smtClean="0"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500" b="0" i="1" smtClean="0">
                        <a:effectLst/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500" b="0" i="1" smtClean="0"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15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endParaRPr lang="en-IN" sz="15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500" u="sng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iteration 2: </a:t>
                </a:r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</a:t>
                </a:r>
                <a14:m>
                  <m:oMath xmlns:m="http://schemas.openxmlformats.org/officeDocument/2006/math">
                    <m:r>
                      <a:rPr lang="en-US" sz="15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5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: </m:t>
                    </m:r>
                    <m:r>
                      <a:rPr lang="en-IN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𝐿𝐵</m:t>
                    </m:r>
                    <m:r>
                      <a:rPr lang="en-IN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=2, </m:t>
                    </m:r>
                    <m:r>
                      <a:rPr lang="en-IN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IN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=2, </m:t>
                    </m:r>
                    <m:r>
                      <a:rPr lang="el-GR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𝜃</m:t>
                    </m:r>
                    <m:r>
                      <a:rPr lang="el-GR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= 0</m:t>
                    </m:r>
                  </m:oMath>
                </a14:m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endParaRPr lang="en-US" sz="1500" i="1" dirty="0">
                  <a:latin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IN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IN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=2,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 i="1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500" i="1" dirty="0">
                    <a:latin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𝑈𝐵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5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sz="1500" i="1" dirty="0">
                  <a:latin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endParaRPr lang="en-IN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Cut added to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𝑀𝑃</m:t>
                    </m:r>
                  </m:oMath>
                </a14:m>
                <a:r>
                  <a:rPr lang="en-IN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endParaRPr lang="en-IN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500" u="sng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iteration 3: </a:t>
                </a:r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</a:t>
                </a:r>
                <a14:m>
                  <m:oMath xmlns:m="http://schemas.openxmlformats.org/officeDocument/2006/math">
                    <m:r>
                      <a:rPr lang="en-US" sz="15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: </m:t>
                    </m:r>
                    <m:r>
                      <a:rPr lang="en-IN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𝐿𝐵</m:t>
                    </m:r>
                    <m:r>
                      <a:rPr lang="en-IN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=3, </m:t>
                    </m:r>
                    <m:r>
                      <a:rPr lang="en-IN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IN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=3, </m:t>
                    </m:r>
                    <m:r>
                      <a:rPr lang="el-GR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𝜃</m:t>
                    </m:r>
                    <m:r>
                      <a:rPr lang="el-GR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 0</m:t>
                    </m:r>
                  </m:oMath>
                </a14:m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endParaRPr lang="en-US" sz="1500" i="1" dirty="0">
                  <a:latin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IN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IN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en-US" sz="15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IN" sz="15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num>
                      <m:den>
                        <m:r>
                          <a:rPr lang="en-US" sz="15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den>
                    </m:f>
                    <m:r>
                      <a:rPr lang="en-IN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500" i="1" dirty="0">
                    <a:latin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5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15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𝑈𝐵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5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3</m:t>
                    </m:r>
                    <m:f>
                      <m:f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sz="1500" i="1" dirty="0">
                  <a:latin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endParaRPr lang="en-IN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Cut added to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𝑀𝑃</m:t>
                    </m:r>
                  </m:oMath>
                </a14:m>
                <a:r>
                  <a:rPr lang="en-IN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3</m:t>
                    </m:r>
                    <m:f>
                      <m:f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15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15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endParaRPr lang="en-IN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500" u="sng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iteration 4:</a:t>
                </a:r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</a:t>
                </a:r>
                <a14:m>
                  <m:oMath xmlns:m="http://schemas.openxmlformats.org/officeDocument/2006/math">
                    <m:r>
                      <a:rPr lang="en-US" sz="15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: </m:t>
                    </m:r>
                    <m:r>
                      <a:rPr lang="en-IN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𝐿𝐵</m:t>
                    </m:r>
                    <m:r>
                      <a:rPr lang="en-IN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=3</m:t>
                    </m:r>
                    <m:f>
                      <m:fPr>
                        <m:ctrlPr>
                          <a:rPr lang="en-US" sz="15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5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num>
                      <m:den>
                        <m:r>
                          <a:rPr lang="en-US" sz="15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9</m:t>
                        </m:r>
                      </m:den>
                    </m:f>
                    <m:r>
                      <a:rPr lang="en-IN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IN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IN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=3, </m:t>
                    </m:r>
                    <m:r>
                      <a:rPr lang="el-GR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𝜃</m:t>
                    </m:r>
                    <m:r>
                      <a:rPr lang="el-GR" sz="15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en-US" sz="15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5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num>
                      <m:den>
                        <m:r>
                          <a:rPr lang="en-US" sz="15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9</m:t>
                        </m:r>
                      </m:den>
                    </m:f>
                  </m:oMath>
                </a14:m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STOP as LB=UB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E8FE2F-C812-3B58-69AE-830458FD0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1371600"/>
                <a:ext cx="5181600" cy="4998933"/>
              </a:xfrm>
              <a:prstGeom prst="rect">
                <a:avLst/>
              </a:prstGeom>
              <a:blipFill>
                <a:blip r:embed="rId4"/>
                <a:stretch>
                  <a:fillRect l="-244" b="-505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580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4658D-BED6-14BE-E485-44D0BADB0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 (homework)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C15D0-9E11-4AFF-60A8-A1FF12AD5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25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78E71A-FA52-3CEE-5B7B-0FD3CB593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609978"/>
            <a:ext cx="5740357" cy="3038222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7AADB8-2913-5831-501F-A644D9B02594}"/>
              </a:ext>
            </a:extLst>
          </p:cNvPr>
          <p:cNvSpPr txBox="1"/>
          <p:nvPr/>
        </p:nvSpPr>
        <p:spPr>
          <a:xfrm>
            <a:off x="533400" y="5257801"/>
            <a:ext cx="784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from the Book: Amit Kumar Vatsa and Saurabh Chandra (2024), Exact and Approximation Methods for Mixed-Integer Nonlinear Programming Problem (Chapter 13)</a:t>
            </a:r>
            <a:endParaRPr lang="en-IN" b="0" i="0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354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B3D3E-2AB8-8363-FFA6-9E88DEA9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AAC6D-F80D-5AC8-DF8E-090574196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Lee, J., &amp; </a:t>
            </a:r>
            <a:r>
              <a:rPr lang="en-IN" dirty="0" err="1"/>
              <a:t>Leyffer</a:t>
            </a:r>
            <a:r>
              <a:rPr lang="en-IN" dirty="0"/>
              <a:t>, S. (Eds.). (2011). </a:t>
            </a:r>
            <a:r>
              <a:rPr lang="en-IN" i="1" dirty="0"/>
              <a:t>Mixed Integer Nonlinear Programming</a:t>
            </a:r>
            <a:r>
              <a:rPr lang="en-IN" dirty="0"/>
              <a:t>. Springer.</a:t>
            </a:r>
          </a:p>
          <a:p>
            <a:r>
              <a:rPr lang="en-IN" dirty="0" err="1"/>
              <a:t>Nocedal</a:t>
            </a:r>
            <a:r>
              <a:rPr lang="en-IN" dirty="0"/>
              <a:t>, J., &amp; Wright, S. J. (2006). </a:t>
            </a:r>
            <a:r>
              <a:rPr lang="en-IN" i="1" dirty="0"/>
              <a:t>Numerical Optimization</a:t>
            </a:r>
            <a:r>
              <a:rPr lang="en-IN" dirty="0"/>
              <a:t> (2nd ed.). Springer. </a:t>
            </a:r>
          </a:p>
          <a:p>
            <a:r>
              <a:rPr lang="en-IN" dirty="0" err="1"/>
              <a:t>Bertsekas</a:t>
            </a:r>
            <a:r>
              <a:rPr lang="en-IN" dirty="0"/>
              <a:t>, D. P. (2016). </a:t>
            </a:r>
            <a:r>
              <a:rPr lang="en-IN" i="1" dirty="0"/>
              <a:t>Nonlinear Programming</a:t>
            </a:r>
            <a:r>
              <a:rPr lang="en-IN" dirty="0"/>
              <a:t> (3rd ed.). Athena Scientific. </a:t>
            </a:r>
          </a:p>
          <a:p>
            <a:r>
              <a:rPr lang="en-IN" dirty="0"/>
              <a:t>Boyd, S., &amp; </a:t>
            </a:r>
            <a:r>
              <a:rPr lang="en-IN" dirty="0" err="1"/>
              <a:t>Vandenberghe</a:t>
            </a:r>
            <a:r>
              <a:rPr lang="en-IN" dirty="0"/>
              <a:t>, L. (2004). </a:t>
            </a:r>
            <a:r>
              <a:rPr lang="en-IN" i="1" dirty="0"/>
              <a:t>Convex Optimization</a:t>
            </a:r>
            <a:r>
              <a:rPr lang="en-IN" dirty="0"/>
              <a:t>. Cambridge University Press. </a:t>
            </a:r>
          </a:p>
          <a:p>
            <a:r>
              <a:rPr lang="en-IN" dirty="0"/>
              <a:t>Horst, R., &amp; </a:t>
            </a:r>
            <a:r>
              <a:rPr lang="en-IN" dirty="0" err="1"/>
              <a:t>Tuy</a:t>
            </a:r>
            <a:r>
              <a:rPr lang="en-IN" dirty="0"/>
              <a:t>, H. (1996). </a:t>
            </a:r>
            <a:r>
              <a:rPr lang="en-IN" i="1" dirty="0"/>
              <a:t>Global Optimization: Deterministic Approaches</a:t>
            </a:r>
            <a:r>
              <a:rPr lang="en-IN" dirty="0"/>
              <a:t> (3rd ed.). Springer. </a:t>
            </a:r>
            <a:endParaRPr lang="en-IN" i="0" dirty="0"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C29A5-CC6B-0959-247A-2A1DAEC80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26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830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4658D-BED6-14BE-E485-44D0BADB0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Non-Convex MINLPs (McCormick envelope)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C15D0-9E11-4AFF-60A8-A1FF12AD5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27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B1D338-71F7-33C6-7015-8839F4295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52" y="1600200"/>
            <a:ext cx="3486150" cy="264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779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D568B-E740-0B1D-8D2A-1CC61D912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000" b="1" dirty="0"/>
              <a:t>Real-world application: shared wastewater treatment planning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11B88-ABF1-EE06-1FCD-7279D905D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Industrial clusters often contain many similar processing units</a:t>
            </a:r>
            <a:br>
              <a:rPr lang="en-IN" dirty="0"/>
            </a:br>
            <a:r>
              <a:rPr lang="en-IN" i="1" dirty="0"/>
              <a:t>(e.g., Tirupur, Unnao)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Each unit generates effluent that must satisfy environmental norms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Large firms may install individual treatment plants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For MSMEs, shared/common effluent treatment plants (CETPs) are often more viable </a:t>
            </a:r>
          </a:p>
          <a:p>
            <a:r>
              <a:rPr lang="en-IN" dirty="0"/>
              <a:t>Key planning questions</a:t>
            </a:r>
          </a:p>
          <a:p>
            <a:pPr lvl="1"/>
            <a:r>
              <a:rPr lang="en-IN" dirty="0"/>
              <a:t>Where should CETPs be located? </a:t>
            </a:r>
          </a:p>
          <a:p>
            <a:pPr lvl="1"/>
            <a:r>
              <a:rPr lang="en-IN" dirty="0"/>
              <a:t>What capacities should be installed? </a:t>
            </a:r>
          </a:p>
          <a:p>
            <a:pPr lvl="1"/>
            <a:r>
              <a:rPr lang="en-IN" dirty="0"/>
              <a:t>Which factories should be allocated to which CETP? </a:t>
            </a:r>
          </a:p>
          <a:p>
            <a:endParaRPr lang="en-IN" dirty="0"/>
          </a:p>
          <a:p>
            <a:r>
              <a:rPr lang="en-IN" dirty="0"/>
              <a:t>Why MINLP?</a:t>
            </a:r>
          </a:p>
          <a:p>
            <a:pPr lvl="1"/>
            <a:r>
              <a:rPr lang="en-IN" dirty="0"/>
              <a:t>discrete location and allocation decisions </a:t>
            </a:r>
          </a:p>
          <a:p>
            <a:pPr lvl="1"/>
            <a:r>
              <a:rPr lang="en-IN" dirty="0"/>
              <a:t>nonlinear treatment cost structure due to scale and pollutant concentration </a:t>
            </a:r>
          </a:p>
          <a:p>
            <a:r>
              <a:rPr lang="en-IN" dirty="0"/>
              <a:t>Reference</a:t>
            </a:r>
            <a:br>
              <a:rPr lang="en-IN" dirty="0"/>
            </a:br>
            <a:r>
              <a:rPr lang="en-IN" dirty="0"/>
              <a:t>Chandra, </a:t>
            </a:r>
            <a:r>
              <a:rPr lang="en-IN" dirty="0" err="1"/>
              <a:t>Sarkhel</a:t>
            </a:r>
            <a:r>
              <a:rPr lang="en-IN" dirty="0"/>
              <a:t>, and Vatsa (2021), </a:t>
            </a:r>
            <a:r>
              <a:rPr lang="en-IN" i="1" dirty="0"/>
              <a:t>Computers &amp; Operations Research</a:t>
            </a:r>
            <a:endParaRPr lang="en-IN" dirty="0"/>
          </a:p>
          <a:p>
            <a:endParaRPr lang="en-US" dirty="0"/>
          </a:p>
          <a:p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6DAC5-D064-EB62-4339-8587F5263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pPr/>
              <a:t>28</a:t>
            </a:fld>
            <a:endParaRPr lang="en-US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5244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eautiful-color-ui-gradients-backgrounds-endless-river.png"/>
          <p:cNvPicPr>
            <a:picLocks noChangeAspect="1"/>
          </p:cNvPicPr>
          <p:nvPr/>
        </p:nvPicPr>
        <p:blipFill>
          <a:blip r:embed="rId3"/>
          <a:srcRect r="16667" b="64652"/>
          <a:stretch>
            <a:fillRect/>
          </a:stretch>
        </p:blipFill>
        <p:spPr>
          <a:xfrm>
            <a:off x="0" y="0"/>
            <a:ext cx="9144000" cy="1524000"/>
          </a:xfrm>
          <a:prstGeom prst="rect">
            <a:avLst/>
          </a:prstGeom>
        </p:spPr>
      </p:pic>
      <p:pic>
        <p:nvPicPr>
          <p:cNvPr id="16" name="Picture 15" descr="beautiful-color-ui-gradients-backgrounds-endless-river.png"/>
          <p:cNvPicPr>
            <a:picLocks noChangeAspect="1"/>
          </p:cNvPicPr>
          <p:nvPr/>
        </p:nvPicPr>
        <p:blipFill>
          <a:blip r:embed="rId3"/>
          <a:srcRect r="16667" b="64652"/>
          <a:stretch>
            <a:fillRect/>
          </a:stretch>
        </p:blipFill>
        <p:spPr>
          <a:xfrm rot="10800000">
            <a:off x="685800" y="2362200"/>
            <a:ext cx="7696200" cy="1981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599" y="3033801"/>
            <a:ext cx="632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Arial (Headings)"/>
                <a:cs typeface="Arial" pitchFamily="34" charset="0"/>
              </a:rPr>
              <a:t>Thank You</a:t>
            </a:r>
          </a:p>
        </p:txBody>
      </p:sp>
      <p:pic>
        <p:nvPicPr>
          <p:cNvPr id="4" name="Picture 3" descr="IIMI Logo.png"/>
          <p:cNvPicPr>
            <a:picLocks noChangeAspect="1"/>
          </p:cNvPicPr>
          <p:nvPr/>
        </p:nvPicPr>
        <p:blipFill>
          <a:blip r:embed="rId4" cstate="print"/>
          <a:srcRect l="9442" t="12269" r="15025" b="9884"/>
          <a:stretch>
            <a:fillRect/>
          </a:stretch>
        </p:blipFill>
        <p:spPr>
          <a:xfrm>
            <a:off x="3886200" y="304800"/>
            <a:ext cx="1341120" cy="1676400"/>
          </a:xfrm>
          <a:prstGeom prst="rect">
            <a:avLst/>
          </a:prstGeom>
          <a:ln w="88900" cap="sq" cmpd="thickThin">
            <a:solidFill>
              <a:schemeClr val="tx2">
                <a:lumMod val="7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5" name="Rectangle 14"/>
          <p:cNvSpPr/>
          <p:nvPr/>
        </p:nvSpPr>
        <p:spPr>
          <a:xfrm>
            <a:off x="762000" y="2438400"/>
            <a:ext cx="7543800" cy="1828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ACSB-logo-accredited-color-RGB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239108" y="5943600"/>
            <a:ext cx="2031998" cy="685800"/>
          </a:xfrm>
          <a:prstGeom prst="rect">
            <a:avLst/>
          </a:prstGeom>
        </p:spPr>
      </p:pic>
      <p:pic>
        <p:nvPicPr>
          <p:cNvPr id="19" name="Picture 18" descr="AMBA 1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477000" y="5905500"/>
            <a:ext cx="2172367" cy="762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642978"/>
            <a:ext cx="1371598" cy="9864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C5BA40-D6D8-404C-A911-BEEA8825676A}"/>
              </a:ext>
            </a:extLst>
          </p:cNvPr>
          <p:cNvSpPr txBox="1"/>
          <p:nvPr/>
        </p:nvSpPr>
        <p:spPr>
          <a:xfrm>
            <a:off x="990600" y="4648201"/>
            <a:ext cx="716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Prof. Amit Vatsa				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  <a:hlinkClick r:id="rId8"/>
              </a:rPr>
              <a:t>amitv@iimidr.ac.in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529009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 Template for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16645</TotalTime>
  <Words>2384</Words>
  <Application>Microsoft Macintosh PowerPoint</Application>
  <PresentationFormat>On-screen Show (4:3)</PresentationFormat>
  <Paragraphs>348</Paragraphs>
  <Slides>29</Slides>
  <Notes>3</Notes>
  <HiddenSlides>6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Arial (Headings)</vt:lpstr>
      <vt:lpstr>Calibri</vt:lpstr>
      <vt:lpstr>Calibri (Body)</vt:lpstr>
      <vt:lpstr>Cambria Math</vt:lpstr>
      <vt:lpstr>Times New Roman</vt:lpstr>
      <vt:lpstr>Standard Template for Presentation</vt:lpstr>
      <vt:lpstr>PowerPoint Presentation</vt:lpstr>
      <vt:lpstr>Topics</vt:lpstr>
      <vt:lpstr>Where do MINLPs arise</vt:lpstr>
      <vt:lpstr>What is convex optimization?</vt:lpstr>
      <vt:lpstr>Some terminology</vt:lpstr>
      <vt:lpstr>Convex region</vt:lpstr>
      <vt:lpstr>Convex function</vt:lpstr>
      <vt:lpstr>Generic MINLP form </vt:lpstr>
      <vt:lpstr>Can solvers solve MINLPs directly?</vt:lpstr>
      <vt:lpstr>Some MINLP solvers</vt:lpstr>
      <vt:lpstr>Example 1: A convex MINLP</vt:lpstr>
      <vt:lpstr>Kelley’s cutting plane: a precursor to OA</vt:lpstr>
      <vt:lpstr>Kelley’s cutting plane</vt:lpstr>
      <vt:lpstr>Why discuss KCP in 21st century?</vt:lpstr>
      <vt:lpstr>Example 1</vt:lpstr>
      <vt:lpstr>Example -1: OA-KCP (inefficient) </vt:lpstr>
      <vt:lpstr>Example -1: OA-KCP (inefficient) </vt:lpstr>
      <vt:lpstr>Method -1: OA-KCP (inefficient) </vt:lpstr>
      <vt:lpstr>Method-2: True OA  </vt:lpstr>
      <vt:lpstr>Method-2: True OA  </vt:lpstr>
      <vt:lpstr>Outer Approximation (OA): key idea</vt:lpstr>
      <vt:lpstr>Generalized Benders Decomposition</vt:lpstr>
      <vt:lpstr>Generalized Benders Decomposition</vt:lpstr>
      <vt:lpstr>Generalized Benders Decomposition</vt:lpstr>
      <vt:lpstr>Example 2 (homework)</vt:lpstr>
      <vt:lpstr>Textbooks</vt:lpstr>
      <vt:lpstr>Non-Convex MINLPs (McCormick envelope)</vt:lpstr>
      <vt:lpstr>Real-world application: shared wastewater treatment planning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 Kumar Vatsa</dc:creator>
  <cp:lastModifiedBy>Amit Kumar Vatsa</cp:lastModifiedBy>
  <cp:revision>142</cp:revision>
  <dcterms:created xsi:type="dcterms:W3CDTF">2020-10-23T18:55:03Z</dcterms:created>
  <dcterms:modified xsi:type="dcterms:W3CDTF">2026-06-04T09:44:07Z</dcterms:modified>
</cp:coreProperties>
</file>