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0534df50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0534df50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8441efd23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8441efd23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8441efd23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8441efd23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8441efd2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e8441efd2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8441efd23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8441efd23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8441efd2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8441efd2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8441efd23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8441efd23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8441efd2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8441efd2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8441efd23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8441efd23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8441efd23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8441efd23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8441efd23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8441efd23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Times New Roman"/>
              <a:buNone/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  <a:defRPr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678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-215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imes New Roman"/>
              <a:buNone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■"/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■"/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Times New Roman"/>
              <a:buChar char="■"/>
              <a:def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079433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95609" y="4749900"/>
            <a:ext cx="415416" cy="39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Times New Roman"/>
              <a:buChar char="●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Times New Roman"/>
              <a:buChar char="●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Times New Roman"/>
              <a:buChar char="●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Times New Roman"/>
              <a:buChar char="●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7678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" name="Google Shape;2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8949" y="4494425"/>
            <a:ext cx="685050" cy="6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7678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7678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678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7678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9"/>
          <p:cNvSpPr txBox="1"/>
          <p:nvPr>
            <p:ph idx="12" type="sldNum"/>
          </p:nvPr>
        </p:nvSpPr>
        <p:spPr>
          <a:xfrm>
            <a:off x="7678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7678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678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7678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678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pyomo.org/" TargetMode="External"/><Relationship Id="rId4" Type="http://schemas.openxmlformats.org/officeDocument/2006/relationships/hyperlink" Target="https://pyomo.readthedocs.io/" TargetMode="External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coin-or/Ipop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minotaur-solver.github.io" TargetMode="External"/><Relationship Id="rId4" Type="http://schemas.openxmlformats.org/officeDocument/2006/relationships/hyperlink" Target="https://minotaur-solver.github.io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tinyurl.com/lso2026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311700" y="894570"/>
            <a:ext cx="8520600" cy="3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June 04, 2026</a:t>
            </a:r>
            <a:endParaRPr sz="24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Large Scale Optimization Summer School</a:t>
            </a:r>
            <a:endParaRPr sz="24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IIT Delhi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400"/>
              <a:t>Ashutosh Mahajan, amahajan@iitb.ac.in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400"/>
              <a:t>(bit.ly/4qpkO40)</a:t>
            </a:r>
            <a:endParaRPr sz="2400"/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1416" y="3967195"/>
            <a:ext cx="1210874" cy="114732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1" y="167272"/>
            <a:ext cx="9144000" cy="1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400"/>
              <a:t>Hands-on Session on </a:t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Modeling and Solving Nonlinear Optimization Models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-21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/>
              <a:t>Agenda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619075"/>
            <a:ext cx="8520600" cy="6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Recall today’s Nonlinear Optimization session 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079433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311700" y="1121720"/>
            <a:ext cx="3000000" cy="237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Form</a:t>
            </a:r>
            <a:endParaRPr sz="1800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min f(x)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Subject to g</a:t>
            </a:r>
            <a:r>
              <a:rPr baseline="-25000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(x) ≥ 0,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g</a:t>
            </a:r>
            <a:r>
              <a:rPr baseline="-25000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(x) ≥ 0,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…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g</a:t>
            </a:r>
            <a:r>
              <a:rPr baseline="-25000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(x) ≥ 0.</a:t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4610000" y="1103119"/>
            <a:ext cx="3539400" cy="2692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</a:t>
            </a:r>
            <a:r>
              <a:rPr lang="en" sz="18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Form</a:t>
            </a:r>
            <a:endParaRPr sz="1800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min f(x)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Subject to d</a:t>
            </a:r>
            <a:r>
              <a:rPr baseline="-25000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≥ g</a:t>
            </a:r>
            <a:r>
              <a:rPr baseline="-25000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(x) ≥ b</a:t>
            </a:r>
            <a:r>
              <a:rPr baseline="-25000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aseline="-25000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≥ g</a:t>
            </a:r>
            <a:r>
              <a:rPr baseline="-25000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(x) ≥ b</a:t>
            </a:r>
            <a:r>
              <a:rPr baseline="-25000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…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aseline="-25000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≥ g</a:t>
            </a:r>
            <a:r>
              <a:rPr baseline="-25000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(x) ≥ b</a:t>
            </a:r>
            <a:r>
              <a:rPr baseline="-25000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u ≥ x ≥ l.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40975" y="3824006"/>
            <a:ext cx="8520600" cy="9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Quick mention of types of nonlinear models (not methods), software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 w</a:t>
            </a:r>
            <a:r>
              <a:rPr lang="en" sz="1800"/>
              <a:t>ill model some simple nonlinear optimization problems on paper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Write software model in Pyomo and solve using Ipopt and Minotaur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Slides and code available on Google Drive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-21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/>
              <a:t>Types of Nonlinear Models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619075"/>
            <a:ext cx="4982400" cy="43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Unconstrained models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Convex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Nonconvex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Polynomial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Sum of squares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Equality Constrained Quadratic Optimization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</a:t>
            </a:r>
            <a:r>
              <a:rPr lang="en"/>
              <a:t>in x</a:t>
            </a:r>
            <a:r>
              <a:rPr baseline="30000" lang="en"/>
              <a:t>T</a:t>
            </a:r>
            <a:r>
              <a:rPr lang="en"/>
              <a:t>Qx + c</a:t>
            </a:r>
            <a:r>
              <a:rPr baseline="30000" lang="en"/>
              <a:t>T</a:t>
            </a:r>
            <a:r>
              <a:rPr lang="en"/>
              <a:t>x</a:t>
            </a:r>
            <a:br>
              <a:rPr lang="en"/>
            </a:br>
            <a:r>
              <a:rPr lang="en"/>
              <a:t>Subject to: Ax = b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Convex and nonconvex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Quadratic Optimization (Linear inequalities)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 </a:t>
            </a:r>
            <a:r>
              <a:rPr lang="en">
                <a:solidFill>
                  <a:schemeClr val="dk1"/>
                </a:solidFill>
              </a:rPr>
              <a:t>min x</a:t>
            </a:r>
            <a:r>
              <a:rPr baseline="30000" lang="en">
                <a:solidFill>
                  <a:schemeClr val="dk1"/>
                </a:solidFill>
              </a:rPr>
              <a:t>T</a:t>
            </a:r>
            <a:r>
              <a:rPr lang="en">
                <a:solidFill>
                  <a:schemeClr val="dk1"/>
                </a:solidFill>
              </a:rPr>
              <a:t>Qx + c</a:t>
            </a:r>
            <a:r>
              <a:rPr baseline="30000" lang="en">
                <a:solidFill>
                  <a:schemeClr val="dk1"/>
                </a:solidFill>
              </a:rPr>
              <a:t>T</a:t>
            </a:r>
            <a:r>
              <a:rPr lang="en">
                <a:solidFill>
                  <a:schemeClr val="dk1"/>
                </a:solidFill>
              </a:rPr>
              <a:t>x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Subject to: Ax ≥ b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>
                <a:solidFill>
                  <a:schemeClr val="dk1"/>
                </a:solidFill>
              </a:rPr>
              <a:t>Convex and nonconvex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079433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5054575" y="783300"/>
            <a:ext cx="3866400" cy="36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Second Order Conic Optimization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Quadratically Constrained Quadratic</a:t>
            </a:r>
            <a:r>
              <a:rPr lang="en" sz="1800"/>
              <a:t> Optimization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min x</a:t>
            </a:r>
            <a:r>
              <a:rPr baseline="30000" lang="en"/>
              <a:t>T</a:t>
            </a:r>
            <a:r>
              <a:rPr lang="en"/>
              <a:t>Qx + c</a:t>
            </a:r>
            <a:r>
              <a:rPr baseline="30000" lang="en"/>
              <a:t>T</a:t>
            </a:r>
            <a:r>
              <a:rPr lang="en"/>
              <a:t>x</a:t>
            </a:r>
            <a:br>
              <a:rPr lang="en"/>
            </a:br>
            <a:r>
              <a:rPr lang="en"/>
              <a:t>Subject to: </a:t>
            </a:r>
            <a:r>
              <a:rPr lang="en">
                <a:solidFill>
                  <a:schemeClr val="dk1"/>
                </a:solidFill>
              </a:rPr>
              <a:t>x</a:t>
            </a:r>
            <a:r>
              <a:rPr baseline="30000" lang="en">
                <a:solidFill>
                  <a:schemeClr val="dk1"/>
                </a:solidFill>
              </a:rPr>
              <a:t>T</a:t>
            </a:r>
            <a:r>
              <a:rPr lang="en">
                <a:solidFill>
                  <a:schemeClr val="dk1"/>
                </a:solidFill>
              </a:rPr>
              <a:t>Q</a:t>
            </a:r>
            <a:r>
              <a:rPr baseline="-25000"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x + c</a:t>
            </a:r>
            <a:r>
              <a:rPr baseline="30000" lang="en">
                <a:solidFill>
                  <a:schemeClr val="dk1"/>
                </a:solidFill>
              </a:rPr>
              <a:t>T</a:t>
            </a:r>
            <a:r>
              <a:rPr lang="en">
                <a:solidFill>
                  <a:schemeClr val="dk1"/>
                </a:solidFill>
              </a:rPr>
              <a:t>x</a:t>
            </a:r>
            <a:r>
              <a:rPr lang="en"/>
              <a:t> </a:t>
            </a:r>
            <a:r>
              <a:rPr lang="en">
                <a:solidFill>
                  <a:schemeClr val="dk1"/>
                </a:solidFill>
              </a:rPr>
              <a:t>≥</a:t>
            </a:r>
            <a:r>
              <a:rPr lang="en"/>
              <a:t> b</a:t>
            </a:r>
            <a:r>
              <a:rPr baseline="-25000" lang="en"/>
              <a:t>i</a:t>
            </a:r>
            <a:endParaRPr baseline="-250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Convex and nonconvex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Bound Constrained nonlinear optimization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 </a:t>
            </a:r>
            <a:r>
              <a:rPr lang="en">
                <a:solidFill>
                  <a:schemeClr val="dk1"/>
                </a:solidFill>
              </a:rPr>
              <a:t>min f(x)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Subject to: l ≤ x ≤ u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>
                <a:solidFill>
                  <a:schemeClr val="dk1"/>
                </a:solidFill>
              </a:rPr>
              <a:t>Convex and nonconvex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3653250" y="4443245"/>
            <a:ext cx="4746000" cy="4926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See Prashant Palkar’s slides from Session-3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-21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/>
              <a:t>General Nonlinear Model</a:t>
            </a:r>
            <a:endParaRPr/>
          </a:p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079433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369350" y="665369"/>
            <a:ext cx="3539400" cy="2692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Form</a:t>
            </a:r>
            <a:endParaRPr sz="1800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min f(x)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Subject to d</a:t>
            </a:r>
            <a:r>
              <a:rPr baseline="-25000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≥ g</a:t>
            </a:r>
            <a:r>
              <a:rPr baseline="-25000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(x) ≥ b</a:t>
            </a:r>
            <a:r>
              <a:rPr baseline="-25000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d</a:t>
            </a:r>
            <a:r>
              <a:rPr baseline="-25000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≥ g</a:t>
            </a:r>
            <a:r>
              <a:rPr baseline="-25000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(x) ≥ b</a:t>
            </a:r>
            <a:r>
              <a:rPr baseline="-25000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…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d</a:t>
            </a:r>
            <a:r>
              <a:rPr baseline="-25000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≥ g</a:t>
            </a:r>
            <a:r>
              <a:rPr baseline="-25000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(x) ≥ b</a:t>
            </a:r>
            <a:r>
              <a:rPr baseline="-25000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u ≥ x ≥ l.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4240650" y="665375"/>
            <a:ext cx="4591500" cy="40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When f, g are convex and all b values are -∞, we have a convex model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Local minimum guaranteed to be global minimum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May still be difficult to solve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Differentiability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Boundedness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Models with 10,000’s of variables can be solved to local optimality in reasonable time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Global optimization: difficult for 10’s or 100’s of variables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079433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498600" y="230650"/>
            <a:ext cx="864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The Modeling </a:t>
            </a: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Workflow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5" name="Google Shape;105;p19"/>
          <p:cNvGrpSpPr/>
          <p:nvPr/>
        </p:nvGrpSpPr>
        <p:grpSpPr>
          <a:xfrm>
            <a:off x="573700" y="1240825"/>
            <a:ext cx="5862600" cy="554100"/>
            <a:chOff x="1325225" y="1277800"/>
            <a:chExt cx="5862600" cy="554100"/>
          </a:xfrm>
        </p:grpSpPr>
        <p:sp>
          <p:nvSpPr>
            <p:cNvPr id="106" name="Google Shape;106;p19"/>
            <p:cNvSpPr txBox="1"/>
            <p:nvPr/>
          </p:nvSpPr>
          <p:spPr>
            <a:xfrm>
              <a:off x="1791425" y="1277800"/>
              <a:ext cx="5396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Times New Roman"/>
                  <a:ea typeface="Times New Roman"/>
                  <a:cs typeface="Times New Roman"/>
                  <a:sym typeface="Times New Roman"/>
                </a:rPr>
                <a:t>Identify a use-case / application/ problem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" name="Google Shape;107;p19"/>
            <p:cNvSpPr/>
            <p:nvPr/>
          </p:nvSpPr>
          <p:spPr>
            <a:xfrm>
              <a:off x="1325225" y="1329250"/>
              <a:ext cx="466200" cy="451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endParaRPr/>
            </a:p>
          </p:txBody>
        </p:sp>
      </p:grpSp>
      <p:grpSp>
        <p:nvGrpSpPr>
          <p:cNvPr id="108" name="Google Shape;108;p19"/>
          <p:cNvGrpSpPr/>
          <p:nvPr/>
        </p:nvGrpSpPr>
        <p:grpSpPr>
          <a:xfrm>
            <a:off x="581095" y="2856425"/>
            <a:ext cx="2999702" cy="554100"/>
            <a:chOff x="1325225" y="1277788"/>
            <a:chExt cx="2999702" cy="554100"/>
          </a:xfrm>
        </p:grpSpPr>
        <p:sp>
          <p:nvSpPr>
            <p:cNvPr id="109" name="Google Shape;109;p19"/>
            <p:cNvSpPr txBox="1"/>
            <p:nvPr/>
          </p:nvSpPr>
          <p:spPr>
            <a:xfrm>
              <a:off x="1791427" y="1277788"/>
              <a:ext cx="2533500" cy="554100"/>
            </a:xfrm>
            <a:prstGeom prst="rect">
              <a:avLst/>
            </a:prstGeom>
            <a:solidFill>
              <a:srgbClr val="EA9999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Model and solve it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" name="Google Shape;110;p19"/>
            <p:cNvSpPr/>
            <p:nvPr/>
          </p:nvSpPr>
          <p:spPr>
            <a:xfrm>
              <a:off x="1325225" y="1329250"/>
              <a:ext cx="466200" cy="451200"/>
            </a:xfrm>
            <a:prstGeom prst="ellipse">
              <a:avLst/>
            </a:prstGeom>
            <a:solidFill>
              <a:srgbClr val="EA99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</a:t>
              </a:r>
              <a:endParaRPr/>
            </a:p>
          </p:txBody>
        </p:sp>
      </p:grpSp>
      <p:grpSp>
        <p:nvGrpSpPr>
          <p:cNvPr id="111" name="Google Shape;111;p19"/>
          <p:cNvGrpSpPr/>
          <p:nvPr/>
        </p:nvGrpSpPr>
        <p:grpSpPr>
          <a:xfrm>
            <a:off x="573697" y="2066197"/>
            <a:ext cx="5862600" cy="554100"/>
            <a:chOff x="1325225" y="1277800"/>
            <a:chExt cx="5862600" cy="554100"/>
          </a:xfrm>
        </p:grpSpPr>
        <p:sp>
          <p:nvSpPr>
            <p:cNvPr id="112" name="Google Shape;112;p19"/>
            <p:cNvSpPr txBox="1"/>
            <p:nvPr/>
          </p:nvSpPr>
          <p:spPr>
            <a:xfrm>
              <a:off x="1791425" y="1277800"/>
              <a:ext cx="5396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Create a detailed description for humans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" name="Google Shape;113;p19"/>
            <p:cNvSpPr/>
            <p:nvPr/>
          </p:nvSpPr>
          <p:spPr>
            <a:xfrm>
              <a:off x="1325225" y="1329250"/>
              <a:ext cx="466200" cy="451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</a:t>
              </a:r>
              <a:endParaRPr/>
            </a:p>
          </p:txBody>
        </p:sp>
      </p:grpSp>
      <p:grpSp>
        <p:nvGrpSpPr>
          <p:cNvPr id="114" name="Google Shape;114;p19"/>
          <p:cNvGrpSpPr/>
          <p:nvPr/>
        </p:nvGrpSpPr>
        <p:grpSpPr>
          <a:xfrm>
            <a:off x="595891" y="3709548"/>
            <a:ext cx="5862600" cy="554100"/>
            <a:chOff x="1325225" y="1277800"/>
            <a:chExt cx="5862600" cy="554100"/>
          </a:xfrm>
        </p:grpSpPr>
        <p:sp>
          <p:nvSpPr>
            <p:cNvPr id="115" name="Google Shape;115;p19"/>
            <p:cNvSpPr txBox="1"/>
            <p:nvPr/>
          </p:nvSpPr>
          <p:spPr>
            <a:xfrm>
              <a:off x="1791425" y="1277800"/>
              <a:ext cx="5396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Deploy, implement, refine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" name="Google Shape;116;p19"/>
            <p:cNvSpPr/>
            <p:nvPr/>
          </p:nvSpPr>
          <p:spPr>
            <a:xfrm>
              <a:off x="1325225" y="1329250"/>
              <a:ext cx="466200" cy="451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311700" y="-21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for Modeling</a:t>
            </a:r>
            <a:endParaRPr/>
          </a:p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311700" y="919175"/>
            <a:ext cx="49557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Pyomo (Python, OpenSource)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JuMP (Julia, OpenSource)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AMPL (Standalone, proprietary)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GAMS (Standalone, proprietary)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AIMMS (Standalone, proprietary)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0"/>
          <p:cNvSpPr txBox="1"/>
          <p:nvPr>
            <p:ph idx="12" type="sldNum"/>
          </p:nvPr>
        </p:nvSpPr>
        <p:spPr>
          <a:xfrm>
            <a:off x="8079433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5119443" y="956175"/>
            <a:ext cx="3884100" cy="1652700"/>
          </a:xfrm>
          <a:prstGeom prst="rect">
            <a:avLst/>
          </a:prstGeom>
          <a:solidFill>
            <a:srgbClr val="D9EAD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Agnostic to solver, immune to license issues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More user friendly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5109150" y="2935900"/>
            <a:ext cx="3884100" cy="1081200"/>
          </a:xfrm>
          <a:prstGeom prst="rect">
            <a:avLst/>
          </a:prstGeom>
          <a:solidFill>
            <a:srgbClr val="EA9999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Lack access to solver specific features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-21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Nonlinear Solvers</a:t>
            </a:r>
            <a:endParaRPr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158619" y="610479"/>
            <a:ext cx="8946600" cy="39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Ipopt (General nonlinear, local optimization) [OpenSource]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Uno (General nonlinear, local optimization) [OpenSource]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SNOPT (General nonlinear, Local optimization) [Prop]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ConOpt (</a:t>
            </a:r>
            <a:r>
              <a:rPr lang="en" sz="2000">
                <a:solidFill>
                  <a:schemeClr val="dk1"/>
                </a:solidFill>
              </a:rPr>
              <a:t>General nonlinear, local optimization) [Prop]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KNitro (Local optimization, convex MINLO) [Prop]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Gurobi (LP, MILP, Glob. Nonlinear, Modeling) [Prop]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XPress (LP, MILP, Glob. Nonlinear, Stoch, Modeling) [Prop]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COPT (LP, MILP, Quadratic, Local Nonlinear, Modeling) [Prop]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CPLEX (LP, MILP, Quadratic, Modeling) [Prop]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BARON (Global Nonlinear) [Prop]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SCIP (LP, MILP, Global Nonlinear) [OpenSource]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Minotaur (MILP, Global Quadratic, Convex MINLP) [OpenSource]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8079433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11700" y="-21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Software</a:t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311700" y="919175"/>
            <a:ext cx="77700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Specific for particular applications like VRP, Crew Scheduling, Power Flow, Transmission Networks, Supply Chains, Portfolio Optimization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Customized solutions for scheduling, routing, network design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APIs: 3dbinpacking.com</a:t>
            </a:r>
            <a:endParaRPr/>
          </a:p>
        </p:txBody>
      </p:sp>
      <p:sp>
        <p:nvSpPr>
          <p:cNvPr id="139" name="Google Shape;139;p22"/>
          <p:cNvSpPr txBox="1"/>
          <p:nvPr>
            <p:ph idx="12" type="sldNum"/>
          </p:nvPr>
        </p:nvSpPr>
        <p:spPr>
          <a:xfrm>
            <a:off x="8079433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138100" y="1116621"/>
            <a:ext cx="8946600" cy="39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Developed at Sandia National Lab, US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Linear, nonlinear, stochastic, differential eqn, …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/>
              <a:t>Available through pip/conda on all systems (linux, mac, windows)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Web: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https://www.pyomo.org/</a:t>
            </a:r>
            <a:r>
              <a:rPr lang="en"/>
              <a:t> 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https://pyomo.readthedocs.io/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Large set of examples, use cases, docs available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Part of the COIN-OR repository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Good community of users, many extensions developed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Provides a syntax that is close to mathematical formulations</a:t>
            </a:r>
            <a:endParaRPr/>
          </a:p>
        </p:txBody>
      </p:sp>
      <p:sp>
        <p:nvSpPr>
          <p:cNvPr id="145" name="Google Shape;145;p23"/>
          <p:cNvSpPr txBox="1"/>
          <p:nvPr>
            <p:ph idx="12" type="sldNum"/>
          </p:nvPr>
        </p:nvSpPr>
        <p:spPr>
          <a:xfrm>
            <a:off x="8079433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249" y="36628"/>
            <a:ext cx="3025152" cy="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138100" y="863550"/>
            <a:ext cx="8946600" cy="39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Interior Point Optimizer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Free and Open-Source solver from COIN-OR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https://github.com/coin-or/Ipopt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A Wächter and L Biegler,</a:t>
            </a:r>
            <a:r>
              <a:rPr i="1" lang="en">
                <a:solidFill>
                  <a:schemeClr val="dk1"/>
                </a:solidFill>
              </a:rPr>
              <a:t> “On the implementation of an interior-point filter line-search algorithm for large-scale nonlinear programming”, </a:t>
            </a:r>
            <a:r>
              <a:rPr lang="en">
                <a:solidFill>
                  <a:schemeClr val="dk1"/>
                </a:solidFill>
              </a:rPr>
              <a:t>Mathematical Programming, 2005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Cited by 13,269 (google scholar)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" name="Google Shape;152;p24"/>
          <p:cNvSpPr txBox="1"/>
          <p:nvPr>
            <p:ph idx="12" type="sldNum"/>
          </p:nvPr>
        </p:nvSpPr>
        <p:spPr>
          <a:xfrm>
            <a:off x="8079433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4"/>
          <p:cNvSpPr txBox="1"/>
          <p:nvPr>
            <p:ph type="title"/>
          </p:nvPr>
        </p:nvSpPr>
        <p:spPr>
          <a:xfrm>
            <a:off x="311700" y="-21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IPOPT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138100" y="863550"/>
            <a:ext cx="8946600" cy="39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Mixed-Integer Nonlinear Optimization Toolkit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Free and Open-Source solver from COIN-OR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https://github.com/coin-or/</a:t>
            </a:r>
            <a:r>
              <a:rPr lang="en" u="sng">
                <a:solidFill>
                  <a:schemeClr val="hlink"/>
                </a:solidFill>
                <a:hlinkClick r:id="rId4"/>
              </a:rPr>
              <a:t>minotaur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Collection of a few solvers: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>
                <a:solidFill>
                  <a:schemeClr val="dk1"/>
                </a:solidFill>
              </a:rPr>
              <a:t>mbnb: nonlinear branch-and-bound for convex MINLO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>
                <a:solidFill>
                  <a:schemeClr val="dk1"/>
                </a:solidFill>
              </a:rPr>
              <a:t>m</a:t>
            </a:r>
            <a:r>
              <a:rPr lang="en">
                <a:solidFill>
                  <a:schemeClr val="dk1"/>
                </a:solidFill>
              </a:rPr>
              <a:t>qg: outer-approximation (Quesada-Grossmann Algorithm) for convex MINLO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>
                <a:solidFill>
                  <a:srgbClr val="CC0000"/>
                </a:solidFill>
              </a:rPr>
              <a:t>m</a:t>
            </a:r>
            <a:r>
              <a:rPr lang="en">
                <a:solidFill>
                  <a:srgbClr val="CC0000"/>
                </a:solidFill>
              </a:rPr>
              <a:t>glob</a:t>
            </a:r>
            <a:r>
              <a:rPr lang="en">
                <a:solidFill>
                  <a:schemeClr val="dk1"/>
                </a:solidFill>
              </a:rPr>
              <a:t>: global optimizer for nonconvex integer/continuous quadratic models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Developed at </a:t>
            </a:r>
            <a:r>
              <a:rPr lang="en">
                <a:solidFill>
                  <a:schemeClr val="dk1"/>
                </a:solidFill>
              </a:rPr>
              <a:t>IIT Bombay and IIT Delhi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" name="Google Shape;159;p25"/>
          <p:cNvSpPr txBox="1"/>
          <p:nvPr>
            <p:ph idx="12" type="sldNum"/>
          </p:nvPr>
        </p:nvSpPr>
        <p:spPr>
          <a:xfrm>
            <a:off x="8079433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" name="Google Shape;160;p25"/>
          <p:cNvSpPr txBox="1"/>
          <p:nvPr>
            <p:ph type="title"/>
          </p:nvPr>
        </p:nvSpPr>
        <p:spPr>
          <a:xfrm>
            <a:off x="311700" y="-21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Minotaur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311700" y="-21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Starting with Pyomo</a:t>
            </a:r>
            <a:endParaRPr/>
          </a:p>
        </p:txBody>
      </p:sp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311700" y="919175"/>
            <a:ext cx="7770000" cy="3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Open the google drive folder (June 4, Session 4):</a:t>
            </a:r>
            <a:br>
              <a:rPr lang="en"/>
            </a:br>
            <a:r>
              <a:rPr lang="en" u="sng">
                <a:solidFill>
                  <a:schemeClr val="hlink"/>
                </a:solidFill>
                <a:hlinkClick r:id="rId3"/>
              </a:rPr>
              <a:t>tinyurl.com/lso2026</a:t>
            </a:r>
            <a:r>
              <a:rPr lang="en"/>
              <a:t> </a:t>
            </a:r>
            <a:br>
              <a:rPr lang="en"/>
            </a:b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Open and read 00-test.ipynb from the shared folder</a:t>
            </a:r>
            <a:br>
              <a:rPr lang="en"/>
            </a:b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See notes on top and start attempting</a:t>
            </a:r>
            <a:endParaRPr/>
          </a:p>
        </p:txBody>
      </p:sp>
      <p:sp>
        <p:nvSpPr>
          <p:cNvPr id="167" name="Google Shape;167;p26"/>
          <p:cNvSpPr txBox="1"/>
          <p:nvPr>
            <p:ph idx="12" type="sldNum"/>
          </p:nvPr>
        </p:nvSpPr>
        <p:spPr>
          <a:xfrm>
            <a:off x="8079433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